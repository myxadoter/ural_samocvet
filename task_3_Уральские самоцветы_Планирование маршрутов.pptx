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365" r:id="rId2"/>
    <p:sldId id="366" r:id="rId3"/>
    <p:sldId id="362" r:id="rId4"/>
    <p:sldId id="364" r:id="rId5"/>
    <p:sldId id="375" r:id="rId6"/>
    <p:sldId id="369" r:id="rId7"/>
    <p:sldId id="372" r:id="rId8"/>
    <p:sldId id="379" r:id="rId9"/>
    <p:sldId id="261" r:id="rId10"/>
    <p:sldId id="260" r:id="rId11"/>
    <p:sldId id="373" r:id="rId12"/>
    <p:sldId id="378" r:id="rId13"/>
    <p:sldId id="377" r:id="rId14"/>
    <p:sldId id="376" r:id="rId15"/>
    <p:sldId id="263" r:id="rId16"/>
    <p:sldId id="380" r:id="rId17"/>
    <p:sldId id="267" r:id="rId18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/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9"/>
            <p14:sldId id="261"/>
            <p14:sldId id="260"/>
            <p14:sldId id="373"/>
            <p14:sldId id="378"/>
            <p14:sldId id="377"/>
            <p14:sldId id="376"/>
            <p14:sldId id="263"/>
            <p14:sldId id="380"/>
            <p14:sldId id="26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53A93"/>
    <a:srgbClr val="DCCEE4"/>
    <a:srgbClr val="FFD6E3"/>
    <a:srgbClr val="FFFFFF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83" autoAdjust="0"/>
    <p:restoredTop sz="95839"/>
  </p:normalViewPr>
  <p:slideViewPr>
    <p:cSldViewPr snapToGrid="0" showGuides="1">
      <p:cViewPr>
        <p:scale>
          <a:sx n="92" d="100"/>
          <a:sy n="92" d="100"/>
        </p:scale>
        <p:origin x="187" y="53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29.09.2026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CF317-460F-D66A-6ACF-27061C9DF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D066F97-A6A0-B747-71F9-577306DB29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0F9F05F-4377-CED9-7FF7-AADFCC58E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8DC8F5-67F2-F257-7833-1FEA7A6F23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5327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69046-74A9-6BC0-030F-AF9856808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235548D-D889-0AAA-F16C-FBBD8FABB9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2BED857-8CFB-C4D0-8AA7-4E459CD5CA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0FF5E7-0C77-0F13-CEBC-1525084DF8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5285682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Подчеркните последовательность: качество данных, выполнимость, приоритет, дорожное время.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Объясните, что методы выбраны ради управляемых и объяснимых решений, а не ради сложного названия алгоритма.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84792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91488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07688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Свяжите пользу с конкретной ролью и не обещайте неподтверждённую экономию.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Покажите на экране настройку смены, карту, причины назначения и список нераспределённых.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5F3B14-7AC8-406F-A299-37D374056E4F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27326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29.09.2026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29.09.2026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29.09.2026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29.09.2026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29.09.2026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29.09.2026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jp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33071"/>
            <a:ext cx="6271845" cy="1706743"/>
          </a:xfrm>
        </p:spPr>
        <p:txBody>
          <a:bodyPr/>
          <a:lstStyle/>
          <a:p>
            <a:pPr marL="268288" indent="0"/>
            <a:r>
              <a:rPr lang="ru-RU" sz="4800" dirty="0"/>
              <a:t>УРАЛЬСКИЕ САМОЦВЕТЫ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383142"/>
            <a:ext cx="8720916" cy="896719"/>
          </a:xfrm>
        </p:spPr>
        <p:txBody>
          <a:bodyPr anchor="ctr">
            <a:normAutofit/>
          </a:bodyPr>
          <a:lstStyle/>
          <a:p>
            <a:pPr marL="268288" indent="0" algn="just"/>
            <a:r>
              <a:rPr lang="ru-RU" dirty="0"/>
              <a:t>ЗАДАЧА №3 Интеллектуальное планирование маршрутов выездных инженеров MVP для диспетчеризации с учётом окон, навыков и срочности</a:t>
            </a:r>
          </a:p>
          <a:p>
            <a:pPr indent="268288"/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pic>
        <p:nvPicPr>
          <p:cNvPr id="8" name="Image 18">
            <a:extLst>
              <a:ext uri="{FF2B5EF4-FFF2-40B4-BE49-F238E27FC236}">
                <a16:creationId xmlns:a16="http://schemas.microsoft.com/office/drawing/2014/main" id="{4B491442-24C2-4748-9F8D-A0C3AA6FEC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543" y="412867"/>
            <a:ext cx="1416043" cy="45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/>
          <p:nvPr/>
        </p:nvSpPr>
        <p:spPr>
          <a:xfrm>
            <a:off x="0" y="2971800"/>
            <a:ext cx="6456363" cy="3886200"/>
          </a:xfrm>
          <a:prstGeom prst="rect">
            <a:avLst/>
          </a:prstGeom>
          <a:solidFill>
            <a:srgbClr val="DCCEE4">
              <a:alpha val="49804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dirty="0"/>
          </a:p>
        </p:txBody>
      </p:sp>
      <p:sp>
        <p:nvSpPr>
          <p:cNvPr id="6" name="Текст 8">
            <a:extLst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 txBox="1">
            <a:spLocks/>
          </p:cNvSpPr>
          <p:nvPr/>
        </p:nvSpPr>
        <p:spPr>
          <a:xfrm>
            <a:off x="6819904" y="2303118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 txBox="1">
            <a:spLocks/>
          </p:cNvSpPr>
          <p:nvPr/>
        </p:nvSpPr>
        <p:spPr>
          <a:xfrm>
            <a:off x="6836606" y="4876070"/>
            <a:ext cx="4945565" cy="148028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Решение дополняет маршрутизацию проверкой ограничений, объяснением назначений и адаптивным перепланированием. Оно сохраняет подтверждённые визиты, оценивает риск нарушения сроков, работает в стресс-сценариях и использует резервный расчёт времени в пути</a:t>
            </a:r>
          </a:p>
        </p:txBody>
      </p:sp>
      <p:sp>
        <p:nvSpPr>
          <p:cNvPr id="14" name="Текст 8">
            <a:extLst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 txBox="1">
            <a:spLocks/>
          </p:cNvSpPr>
          <p:nvPr/>
        </p:nvSpPr>
        <p:spPr>
          <a:xfrm>
            <a:off x="334962" y="3883009"/>
            <a:ext cx="5761038" cy="2399033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 fontScale="92500"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Капитан: </a:t>
            </a:r>
            <a:r>
              <a:rPr lang="ru-RU" dirty="0">
                <a:solidFill>
                  <a:schemeClr val="tx1"/>
                </a:solidFill>
              </a:rPr>
              <a:t>Савина Юлия Александровна </a:t>
            </a:r>
          </a:p>
          <a:p>
            <a:pPr mar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</a:rPr>
              <a:t>   </a:t>
            </a:r>
            <a:r>
              <a:rPr lang="ru-RU" dirty="0">
                <a:solidFill>
                  <a:schemeClr val="tx1"/>
                </a:solidFill>
              </a:rPr>
              <a:t>Руководитель направления организационного развития</a:t>
            </a:r>
          </a:p>
          <a:p>
            <a:pPr mar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Кол-во участников: </a:t>
            </a:r>
            <a:r>
              <a:rPr lang="ru-RU" dirty="0">
                <a:solidFill>
                  <a:schemeClr val="tx1"/>
                </a:solidFill>
              </a:rPr>
              <a:t>3 человека</a:t>
            </a:r>
          </a:p>
          <a:p>
            <a:pPr mar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Краткое описание: </a:t>
            </a:r>
            <a:endParaRPr lang="en-US" b="1" dirty="0">
              <a:solidFill>
                <a:schemeClr val="tx1"/>
              </a:solidFill>
            </a:endParaRPr>
          </a:p>
          <a:p>
            <a:pPr marL="0" indent="0" algn="just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dirty="0">
                <a:solidFill>
                  <a:schemeClr val="tx1"/>
                </a:solidFill>
              </a:rPr>
              <a:t>Команду «Уральские самоцветы» объединяют компетенции в анализе, разработке и проектировании цифровых сервисов</a:t>
            </a:r>
          </a:p>
          <a:p>
            <a:pPr marL="0" indent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dirty="0">
              <a:solidFill>
                <a:schemeClr val="tx1"/>
              </a:solidFill>
            </a:endParaRPr>
          </a:p>
          <a:p>
            <a:pPr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b="1" dirty="0">
                <a:solidFill>
                  <a:schemeClr val="tx1"/>
                </a:solidFill>
              </a:rPr>
              <a:t>Город и регион: </a:t>
            </a:r>
            <a:r>
              <a:rPr lang="ru-RU" dirty="0">
                <a:solidFill>
                  <a:schemeClr val="tx1"/>
                </a:solidFill>
              </a:rPr>
              <a:t>Екатеринбург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 txBox="1">
            <a:spLocks/>
          </p:cNvSpPr>
          <p:nvPr/>
        </p:nvSpPr>
        <p:spPr>
          <a:xfrm>
            <a:off x="334962" y="348478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9903" y="1039236"/>
            <a:ext cx="3636703" cy="1015128"/>
          </a:xfrm>
        </p:spPr>
        <p:txBody>
          <a:bodyPr/>
          <a:lstStyle/>
          <a:p>
            <a:r>
              <a:rPr lang="ru-RU" sz="2400" dirty="0">
                <a:solidFill>
                  <a:schemeClr val="accent5"/>
                </a:solidFill>
                <a:latin typeface="+mn-lt"/>
              </a:rPr>
              <a:t>УРАЛЬСКИЕ САМОЦВЕТЫ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7C7CCC6C-58F8-0E63-53E4-87AE6D59DD62}"/>
              </a:ext>
            </a:extLst>
          </p:cNvPr>
          <p:cNvCxnSpPr>
            <a:cxnSpLocks/>
          </p:cNvCxnSpPr>
          <p:nvPr/>
        </p:nvCxnSpPr>
        <p:spPr>
          <a:xfrm>
            <a:off x="6880774" y="2240031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>
            <a:extLst>
              <a:ext uri="{FF2B5EF4-FFF2-40B4-BE49-F238E27FC236}">
                <a16:creationId xmlns:a16="http://schemas.microsoft.com/office/drawing/2014/main" id="{1B3B23E2-26F4-92D2-2DA4-7A9B6B8237E1}"/>
              </a:ext>
            </a:extLst>
          </p:cNvPr>
          <p:cNvCxnSpPr>
            <a:cxnSpLocks/>
          </p:cNvCxnSpPr>
          <p:nvPr/>
        </p:nvCxnSpPr>
        <p:spPr>
          <a:xfrm>
            <a:off x="6897347" y="4437879"/>
            <a:ext cx="4884824" cy="0"/>
          </a:xfrm>
          <a:prstGeom prst="line">
            <a:avLst/>
          </a:prstGeom>
          <a:ln w="12700"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0C8347DC-DEA9-7C56-5C73-FA89FB55D49D}"/>
              </a:ext>
            </a:extLst>
          </p:cNvPr>
          <p:cNvCxnSpPr>
            <a:cxnSpLocks/>
          </p:cNvCxnSpPr>
          <p:nvPr/>
        </p:nvCxnSpPr>
        <p:spPr>
          <a:xfrm>
            <a:off x="395833" y="3448639"/>
            <a:ext cx="5700167" cy="0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Текст 8">
            <a:extLst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 txBox="1">
            <a:spLocks/>
          </p:cNvSpPr>
          <p:nvPr/>
        </p:nvSpPr>
        <p:spPr>
          <a:xfrm>
            <a:off x="6819904" y="4541737"/>
            <a:ext cx="4945564" cy="668667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sz="1600" b="1" dirty="0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 txBox="1">
            <a:spLocks/>
          </p:cNvSpPr>
          <p:nvPr/>
        </p:nvSpPr>
        <p:spPr>
          <a:xfrm>
            <a:off x="6808027" y="2619903"/>
            <a:ext cx="4974144" cy="1632304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Font typeface="Wingdings" pitchFamily="2" charset="2"/>
              <a:buNone/>
            </a:pPr>
            <a:r>
              <a:rPr lang="ru-RU" dirty="0">
                <a:solidFill>
                  <a:schemeClr val="tx1"/>
                </a:solidFill>
              </a:rPr>
              <a:t>Сервис формирует и корректирует план выездов инженеров. Он учитывает ограничения по специалистам, времени и транспорту, объясняет назначения и поддерживает перепланирование при срочных изменениях</a:t>
            </a:r>
          </a:p>
        </p:txBody>
      </p:sp>
      <p:sp>
        <p:nvSpPr>
          <p:cNvPr id="10" name="Номер слайда 35">
            <a:extLst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52DCC5B9-D646-4B76-891F-6FF4E74E9CB4}" type="slidenum">
              <a:rPr lang="ru-RU" sz="1200" smtClean="0">
                <a:solidFill>
                  <a:schemeClr val="accent5"/>
                </a:solidFill>
              </a:rPr>
              <a:pPr algn="ctr"/>
              <a:t>2</a:t>
            </a:fld>
            <a:endParaRPr lang="ru-RU" sz="1200" dirty="0">
              <a:solidFill>
                <a:schemeClr val="accent5"/>
              </a:solidFill>
            </a:endParaRPr>
          </a:p>
        </p:txBody>
      </p:sp>
      <p:pic>
        <p:nvPicPr>
          <p:cNvPr id="47" name="Рисунок 46">
            <a:extLst>
              <a:ext uri="{FF2B5EF4-FFF2-40B4-BE49-F238E27FC236}">
                <a16:creationId xmlns:a16="http://schemas.microsoft.com/office/drawing/2014/main" id="{87CA89C9-B56D-4225-8A62-44116C1FCFC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31053"/>
          <a:stretch/>
        </p:blipFill>
        <p:spPr>
          <a:xfrm>
            <a:off x="-279109" y="-1548972"/>
            <a:ext cx="6858000" cy="472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977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AC977F-019F-1EBC-A1EC-CEAA645B5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4750377" y="1525700"/>
            <a:ext cx="2660094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5133247" y="4253722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Менеджер проекта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@SavinaJuliya</a:t>
            </a:r>
            <a:endParaRPr lang="ru-RU" sz="1200" dirty="0">
              <a:solidFill>
                <a:schemeClr val="accent6">
                  <a:lumMod val="75000"/>
                  <a:lumOff val="25000"/>
                </a:schemeClr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+7(950) 540-82-04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5219141" y="3625812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Юлия  Савина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8516048" y="1522006"/>
            <a:ext cx="2660094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8898918" y="4250028"/>
            <a:ext cx="1894354" cy="162461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Разработчик</a:t>
            </a: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@gabagoolll</a:t>
            </a:r>
            <a:endParaRPr lang="ru-RU" sz="1200" dirty="0">
              <a:solidFill>
                <a:schemeClr val="accent6">
                  <a:lumMod val="75000"/>
                  <a:lumOff val="25000"/>
                </a:schemeClr>
              </a:solidFill>
            </a:endParaRPr>
          </a:p>
          <a:p>
            <a:pPr fontAlgn="base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+7(982) 743-83-77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898481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Дмитрий Прокопьев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1015860" y="1522006"/>
            <a:ext cx="2660094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2870" y="446952"/>
            <a:ext cx="3885861" cy="376138"/>
          </a:xfrm>
        </p:spPr>
        <p:txBody>
          <a:bodyPr/>
          <a:lstStyle/>
          <a:p>
            <a:r>
              <a:rPr lang="ru-RU" dirty="0">
                <a:latin typeface="+mn-lt"/>
              </a:rPr>
              <a:t>УРАЛЬСКИЕ САМОЦВЕТЫ</a:t>
            </a: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142855" y="4250028"/>
            <a:ext cx="2401203" cy="1624612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200" dirty="0">
                <a:solidFill>
                  <a:schemeClr val="tx1"/>
                </a:solidFill>
              </a:rPr>
              <a:t>Специалист по работе с данными / Инженер машинного обучения</a:t>
            </a:r>
          </a:p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accent6">
                    <a:lumMod val="75000"/>
                    <a:lumOff val="25000"/>
                  </a:schemeClr>
                </a:solidFill>
              </a:rPr>
              <a:t>@agapitova_olechka</a:t>
            </a:r>
            <a:endParaRPr lang="ru-RU" sz="1200" dirty="0">
              <a:solidFill>
                <a:schemeClr val="accent6">
                  <a:lumMod val="75000"/>
                  <a:lumOff val="25000"/>
                </a:schemeClr>
              </a:solidFill>
            </a:endParaRPr>
          </a:p>
          <a:p>
            <a:pPr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</a:rPr>
              <a:t>+7(909) 725-37-89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148462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Ольга Агапитова</a:t>
            </a:r>
          </a:p>
        </p:txBody>
      </p:sp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34004908-BBA1-4CA2-A3EB-F6F7C420F0D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01" r="2243" b="29014"/>
          <a:stretch/>
        </p:blipFill>
        <p:spPr>
          <a:xfrm>
            <a:off x="1578053" y="1791222"/>
            <a:ext cx="1501276" cy="1542633"/>
          </a:xfrm>
          <a:prstGeom prst="roundRect">
            <a:avLst/>
          </a:prstGeom>
        </p:spPr>
      </p:pic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143450E0-EA09-4D95-9459-A46AB6B63F7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37" b="27015"/>
          <a:stretch/>
        </p:blipFill>
        <p:spPr>
          <a:xfrm>
            <a:off x="5312570" y="1804440"/>
            <a:ext cx="1535708" cy="1542633"/>
          </a:xfrm>
          <a:prstGeom prst="roundRect">
            <a:avLst/>
          </a:prstGeom>
        </p:spPr>
      </p:pic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F106EEC0-D747-4AD5-8CE5-FE13D908F043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1" r="15383" b="1486"/>
          <a:stretch/>
        </p:blipFill>
        <p:spPr>
          <a:xfrm>
            <a:off x="9070799" y="1806014"/>
            <a:ext cx="1535708" cy="1519721"/>
          </a:xfrm>
          <a:prstGeom prst="roundRect">
            <a:avLst/>
          </a:prstGeom>
        </p:spPr>
      </p:pic>
      <p:pic>
        <p:nvPicPr>
          <p:cNvPr id="38" name="Рисунок 37">
            <a:extLst>
              <a:ext uri="{FF2B5EF4-FFF2-40B4-BE49-F238E27FC236}">
                <a16:creationId xmlns:a16="http://schemas.microsoft.com/office/drawing/2014/main" id="{66CD5CBA-3906-41C6-8FD5-BBF583AD55E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2486" y="5351352"/>
            <a:ext cx="1466843" cy="977895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EE367AD3-4A94-46DB-A5AB-5CFCD1B8F83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7313" y="5351352"/>
            <a:ext cx="1466843" cy="977895"/>
          </a:xfrm>
          <a:prstGeom prst="rect">
            <a:avLst/>
          </a:prstGeom>
        </p:spPr>
      </p:pic>
      <p:pic>
        <p:nvPicPr>
          <p:cNvPr id="40" name="Рисунок 39">
            <a:extLst>
              <a:ext uri="{FF2B5EF4-FFF2-40B4-BE49-F238E27FC236}">
                <a16:creationId xmlns:a16="http://schemas.microsoft.com/office/drawing/2014/main" id="{C5466865-110A-4913-B0FB-9550A4F923E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3085" y="5351352"/>
            <a:ext cx="1466843" cy="977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21470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12D283-FCC2-40D9-9CEA-EF1BD3595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4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348" y="458176"/>
            <a:ext cx="3952656" cy="376138"/>
          </a:xfrm>
        </p:spPr>
        <p:txBody>
          <a:bodyPr/>
          <a:lstStyle/>
          <a:p>
            <a:r>
              <a:rPr lang="ru-RU" dirty="0">
                <a:latin typeface="+mn-lt"/>
              </a:rPr>
              <a:t>УРАЛЬСКИЕ САМОЦВЕТЫ</a:t>
            </a:r>
          </a:p>
        </p:txBody>
      </p:sp>
      <p:sp>
        <p:nvSpPr>
          <p:cNvPr id="37" name="Текст 8">
            <a:extLst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3607" y="1602273"/>
            <a:ext cx="7175876" cy="934263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Мы работаем в совместных проектах, но в разных ролях: кто-то ищет логику, кто-то превращает её в код, а кто-то следит, чтобы результат не выглядел как «ещё одна таблица». На хакатоне объединили этот опыт в одну команду</a:t>
            </a:r>
          </a:p>
        </p:txBody>
      </p:sp>
      <p:sp>
        <p:nvSpPr>
          <p:cNvPr id="38" name="Текст 8">
            <a:extLst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 txBox="1">
            <a:spLocks/>
          </p:cNvSpPr>
          <p:nvPr/>
        </p:nvSpPr>
        <p:spPr>
          <a:xfrm>
            <a:off x="533607" y="1279645"/>
            <a:ext cx="2990173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 txBox="1">
            <a:spLocks/>
          </p:cNvSpPr>
          <p:nvPr/>
        </p:nvSpPr>
        <p:spPr>
          <a:xfrm>
            <a:off x="533607" y="5139255"/>
            <a:ext cx="7318749" cy="105536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Основная сложность – противоречивые ограничения. Мы разделили проверку выполнимости и построение маршрута, добавили объяснение решений и сценарии перепланирования. Ну и фото нашего разработчика на презентации – это лучшее из его портфолио</a:t>
            </a:r>
          </a:p>
        </p:txBody>
      </p:sp>
      <p:sp>
        <p:nvSpPr>
          <p:cNvPr id="41" name="Текст 8">
            <a:extLst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 txBox="1">
            <a:spLocks/>
          </p:cNvSpPr>
          <p:nvPr/>
        </p:nvSpPr>
        <p:spPr>
          <a:xfrm>
            <a:off x="533608" y="4571473"/>
            <a:ext cx="6438692" cy="62905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 txBox="1">
            <a:spLocks/>
          </p:cNvSpPr>
          <p:nvPr/>
        </p:nvSpPr>
        <p:spPr>
          <a:xfrm>
            <a:off x="533607" y="3429000"/>
            <a:ext cx="7259765" cy="107852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00000"/>
              </a:lnSpc>
              <a:buNone/>
            </a:pPr>
            <a:r>
              <a:rPr lang="ru-RU" dirty="0">
                <a:solidFill>
                  <a:schemeClr val="tx1"/>
                </a:solidFill>
              </a:rPr>
              <a:t>Задача отражает реальную проблему сервисных компаний: заявки нужно распределять с учётом сроков, навыков инженеров и ограничений ресурсов. Для нашей команды сейчас это очень актуальная задача</a:t>
            </a:r>
          </a:p>
        </p:txBody>
      </p:sp>
      <p:sp>
        <p:nvSpPr>
          <p:cNvPr id="44" name="Текст 8">
            <a:extLst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 txBox="1">
            <a:spLocks/>
          </p:cNvSpPr>
          <p:nvPr/>
        </p:nvSpPr>
        <p:spPr>
          <a:xfrm>
            <a:off x="533607" y="2900091"/>
            <a:ext cx="5629858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lang="ru-RU" b="1" dirty="0">
                <a:solidFill>
                  <a:schemeClr val="accent5"/>
                </a:solidFill>
              </a:rPr>
            </a:br>
            <a:r>
              <a:rPr lang="ru-RU" b="1" dirty="0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8462540F-CBE5-F86F-AD60-3D1A03F73EED}"/>
              </a:ext>
            </a:extLst>
          </p:cNvPr>
          <p:cNvCxnSpPr>
            <a:cxnSpLocks/>
          </p:cNvCxnSpPr>
          <p:nvPr/>
        </p:nvCxnSpPr>
        <p:spPr>
          <a:xfrm>
            <a:off x="623888" y="2745691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43B6B201-8F98-911C-C812-B6DD350A7909}"/>
              </a:ext>
            </a:extLst>
          </p:cNvPr>
          <p:cNvCxnSpPr>
            <a:cxnSpLocks/>
          </p:cNvCxnSpPr>
          <p:nvPr/>
        </p:nvCxnSpPr>
        <p:spPr>
          <a:xfrm>
            <a:off x="623888" y="4407066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935A7CAA-85B0-3D33-9D92-74AF00456FDE}"/>
              </a:ext>
            </a:extLst>
          </p:cNvPr>
          <p:cNvCxnSpPr>
            <a:cxnSpLocks/>
          </p:cNvCxnSpPr>
          <p:nvPr/>
        </p:nvCxnSpPr>
        <p:spPr>
          <a:xfrm>
            <a:off x="623888" y="1110074"/>
            <a:ext cx="11233150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Текст 8">
            <a:extLst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 txBox="1">
            <a:spLocks/>
          </p:cNvSpPr>
          <p:nvPr/>
        </p:nvSpPr>
        <p:spPr>
          <a:xfrm>
            <a:off x="11015788" y="1279645"/>
            <a:ext cx="956838" cy="35393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 txBox="1">
            <a:spLocks/>
          </p:cNvSpPr>
          <p:nvPr/>
        </p:nvSpPr>
        <p:spPr>
          <a:xfrm>
            <a:off x="11015788" y="2900091"/>
            <a:ext cx="930595" cy="528909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 txBox="1">
            <a:spLocks/>
          </p:cNvSpPr>
          <p:nvPr/>
        </p:nvSpPr>
        <p:spPr>
          <a:xfrm>
            <a:off x="11015788" y="4571473"/>
            <a:ext cx="930596" cy="567782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ct val="100000"/>
              </a:lnSpc>
              <a:buNone/>
            </a:pPr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D51DE2-6F1E-2FB8-52A8-A597ED4D8F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5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496927" y="1920927"/>
            <a:ext cx="4929861" cy="3817143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Веб-сервис формирует план выездов инженеров с учётом навыков, смен, транспорта, временных окон и приоритета заявки</a:t>
            </a:r>
          </a:p>
          <a:p>
            <a:r>
              <a:rPr lang="ru-RU" sz="1400" dirty="0">
                <a:solidFill>
                  <a:schemeClr val="tx1"/>
                </a:solidFill>
              </a:rPr>
              <a:t>Перед назначением система проверяет выполнимость и показывает причину ограничения</a:t>
            </a:r>
          </a:p>
          <a:p>
            <a:r>
              <a:rPr lang="ru-RU" sz="1400" dirty="0">
                <a:solidFill>
                  <a:schemeClr val="tx1"/>
                </a:solidFill>
              </a:rPr>
              <a:t>Для построения маршрутов используется дорожное время; предусмотрен резервный расчёт при недоступности внешнего сервиса</a:t>
            </a:r>
          </a:p>
          <a:p>
            <a:r>
              <a:rPr lang="ru-RU" sz="1400" dirty="0">
                <a:solidFill>
                  <a:schemeClr val="tx1"/>
                </a:solidFill>
              </a:rPr>
              <a:t>При изменениях в течение смены сервис пересчитывает оставшийся план, сохраняя завершённые и подтверждённые визиты</a:t>
            </a:r>
          </a:p>
          <a:p>
            <a:r>
              <a:rPr lang="ru-RU" sz="1400" dirty="0">
                <a:solidFill>
                  <a:schemeClr val="tx1"/>
                </a:solidFill>
              </a:rPr>
              <a:t>Сценарное моделирование: диспетчер может заранее оценить, как срочная заявка или недоступность инженера повлияют на план смены</a:t>
            </a:r>
          </a:p>
          <a:p>
            <a:endParaRPr lang="ru-RU" sz="1400" dirty="0">
              <a:solidFill>
                <a:schemeClr val="tx1"/>
              </a:solidFill>
            </a:endParaRPr>
          </a:p>
          <a:p>
            <a:endParaRPr lang="ru-RU" sz="1400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r>
              <a:rPr lang="ru-RU" sz="1400" dirty="0">
                <a:solidFill>
                  <a:schemeClr val="tx1"/>
                </a:solidFill>
              </a:rPr>
              <a:t>Целевая аудитория: сервисные, эксплуатационные и управляющие компании с выездными сотрудниками</a:t>
            </a:r>
          </a:p>
          <a:p>
            <a:r>
              <a:rPr lang="ru-RU" sz="1400" dirty="0">
                <a:solidFill>
                  <a:schemeClr val="tx1"/>
                </a:solidFill>
              </a:rPr>
              <a:t>Первый этап внедрения – пилот на исторических заявках и текущей смене компании</a:t>
            </a:r>
          </a:p>
          <a:p>
            <a:r>
              <a:rPr lang="ru-RU" sz="1400" dirty="0">
                <a:solidFill>
                  <a:schemeClr val="tx1"/>
                </a:solidFill>
              </a:rPr>
              <a:t>Эффект оценивается по времени в пути, загрузке инженеров, количеству выполненных заявок и риску нарушения SLA</a:t>
            </a:r>
          </a:p>
          <a:p>
            <a:r>
              <a:rPr lang="ru-RU" sz="1400" dirty="0">
                <a:solidFill>
                  <a:schemeClr val="tx1"/>
                </a:solidFill>
              </a:rPr>
              <a:t>После пилота: интеграция с CRM/учётными системами, подключение картографических сервисов и масштабирование на новые подразделения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9862734" cy="376138"/>
          </a:xfrm>
        </p:spPr>
        <p:txBody>
          <a:bodyPr/>
          <a:lstStyle/>
          <a:p>
            <a:r>
              <a:rPr lang="ru-RU" dirty="0"/>
              <a:t>КОРОТКО О РЕШЕНИИ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Маркетинговая суть решения</a:t>
            </a:r>
          </a:p>
          <a:p>
            <a:pPr>
              <a:lnSpc>
                <a:spcPct val="100000"/>
              </a:lnSpc>
            </a:pPr>
            <a:endParaRPr lang="ru-RU" b="1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1B6129-4E5A-20E2-763B-F5010C611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0747" y="1216305"/>
            <a:ext cx="5574868" cy="3568936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Целевая аудитория – сервисные, эксплуатационные и управляющие компании с выездными инженерами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Проблема – ручное распределение заявок ведёт к простоям, неравномерной загрузке и риску нарушения SLA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Эффект для бизнеса – меньше времени на планирование, выше доля выполненных заявок и прозрачнее контроль работы команды</a:t>
            </a:r>
          </a:p>
          <a:p>
            <a:endParaRPr lang="ru-RU" dirty="0">
              <a:solidFill>
                <a:schemeClr val="tx1"/>
              </a:solidFill>
            </a:endParaRPr>
          </a:p>
          <a:p>
            <a:r>
              <a:rPr lang="ru-RU" dirty="0">
                <a:solidFill>
                  <a:schemeClr val="tx1"/>
                </a:solidFill>
              </a:rPr>
              <a:t>Модель внедрения – пилот на данных заказчика, затем подписка на сервис и интеграция с корпоративными системами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 lang="ru-RU" sz="2000" dirty="0">
                <a:solidFill>
                  <a:schemeClr val="accent5"/>
                </a:solidFill>
              </a:rPr>
              <a:t>Бизнесовая составляющая </a:t>
            </a:r>
            <a:r>
              <a:rPr lang="en-US" sz="2000" dirty="0">
                <a:solidFill>
                  <a:schemeClr val="accent5"/>
                </a:solidFill>
              </a:rPr>
              <a:t>MVP</a:t>
            </a:r>
            <a:endParaRPr lang="ru-RU" sz="2000" dirty="0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07153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E39BFA-C414-3731-3F05-E28FB015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Скругленный прямоугольник 3">
            <a:extLst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/>
          <p:nvPr/>
        </p:nvSpPr>
        <p:spPr>
          <a:xfrm>
            <a:off x="325170" y="1304256"/>
            <a:ext cx="11541659" cy="5052102"/>
          </a:xfrm>
          <a:prstGeom prst="roundRect">
            <a:avLst>
              <a:gd name="adj" fmla="val 6926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1189" y="1957586"/>
            <a:ext cx="10789619" cy="3745441"/>
          </a:xfrm>
        </p:spPr>
        <p:txBody>
          <a:bodyPr>
            <a:normAutofit/>
          </a:bodyPr>
          <a:lstStyle/>
          <a:p>
            <a:pPr algn="just"/>
            <a:r>
              <a:rPr lang="ru-RU" sz="1600" b="1" dirty="0">
                <a:solidFill>
                  <a:schemeClr val="tx1"/>
                </a:solidFill>
              </a:rPr>
              <a:t>Входные данные</a:t>
            </a:r>
            <a:r>
              <a:rPr lang="ru-RU" sz="1600" dirty="0">
                <a:solidFill>
                  <a:schemeClr val="tx1"/>
                </a:solidFill>
              </a:rPr>
              <a:t>: заявки, инженеры, навыки, смены, транспорт, длительность работ, временные окна и приоритеты. Данные можно загрузить в сервис и проверить перед расчётом.</a:t>
            </a:r>
          </a:p>
          <a:p>
            <a:pPr algn="just"/>
            <a:r>
              <a:rPr lang="ru-RU" sz="1600" b="1" dirty="0">
                <a:solidFill>
                  <a:schemeClr val="tx1"/>
                </a:solidFill>
              </a:rPr>
              <a:t>Проверка ограничений</a:t>
            </a:r>
            <a:r>
              <a:rPr lang="ru-RU" sz="1600" dirty="0">
                <a:solidFill>
                  <a:schemeClr val="tx1"/>
                </a:solidFill>
              </a:rPr>
              <a:t>: до назначения система отсекает невозможные варианты и показывает причину: нет нужного навыка, инженер не в смене, нет транспорта или заявка не попадает во временное окно.</a:t>
            </a:r>
          </a:p>
          <a:p>
            <a:pPr algn="just"/>
            <a:r>
              <a:rPr lang="ru-RU" sz="1600" b="1" dirty="0">
                <a:solidFill>
                  <a:schemeClr val="tx1"/>
                </a:solidFill>
              </a:rPr>
              <a:t>Алгоритм планирования</a:t>
            </a:r>
            <a:r>
              <a:rPr lang="ru-RU" sz="1600" dirty="0">
                <a:solidFill>
                  <a:schemeClr val="tx1"/>
                </a:solidFill>
              </a:rPr>
              <a:t>: сначала в маршрут попадают критичные заявки, затем остальные распределяются с учётом времени в пути и доступности инженеров. Результат сравнивается с базовым вариантом распределения</a:t>
            </a:r>
          </a:p>
          <a:p>
            <a:pPr algn="just"/>
            <a:r>
              <a:rPr lang="ru-RU" sz="1600" b="1" dirty="0">
                <a:solidFill>
                  <a:schemeClr val="tx1"/>
                </a:solidFill>
              </a:rPr>
              <a:t>Маршрутизация</a:t>
            </a:r>
            <a:r>
              <a:rPr lang="ru-RU" sz="1600" dirty="0">
                <a:solidFill>
                  <a:schemeClr val="tx1"/>
                </a:solidFill>
              </a:rPr>
              <a:t>: для расчёта используется дорожное время через картографический сервис; при его недоступности предусмотрен резервный расчёт</a:t>
            </a:r>
          </a:p>
          <a:p>
            <a:pPr algn="just"/>
            <a:r>
              <a:rPr lang="ru-RU" sz="1600" b="1" dirty="0">
                <a:solidFill>
                  <a:schemeClr val="tx1"/>
                </a:solidFill>
              </a:rPr>
              <a:t>Перепланирование</a:t>
            </a:r>
            <a:r>
              <a:rPr lang="ru-RU" sz="1600" dirty="0">
                <a:solidFill>
                  <a:schemeClr val="tx1"/>
                </a:solidFill>
              </a:rPr>
              <a:t>: выполненные и подтверждённые визиты фиксируются. При срочной заявке или недоступности инженера пересчитывается только оставшаяся часть смены</a:t>
            </a:r>
          </a:p>
          <a:p>
            <a:pPr algn="just"/>
            <a:r>
              <a:rPr lang="ru-RU" sz="1600" b="1" dirty="0">
                <a:solidFill>
                  <a:schemeClr val="tx1"/>
                </a:solidFill>
              </a:rPr>
              <a:t>Интерфейс диспетчера</a:t>
            </a:r>
            <a:r>
              <a:rPr lang="ru-RU" sz="1600" dirty="0">
                <a:solidFill>
                  <a:schemeClr val="tx1"/>
                </a:solidFill>
              </a:rPr>
              <a:t>: отображает назначения, маршруты, ограничения и позволяет вручную корректировать план</a:t>
            </a: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7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104" y="414049"/>
            <a:ext cx="7277046" cy="552061"/>
          </a:xfrm>
        </p:spPr>
        <p:txBody>
          <a:bodyPr/>
          <a:lstStyle/>
          <a:p>
            <a:r>
              <a:rPr lang="ru-RU" sz="2800" dirty="0">
                <a:solidFill>
                  <a:schemeClr val="bg1"/>
                </a:solidFill>
              </a:rPr>
              <a:t>Техническая проработка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5032260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>
            <a:spLocks noGrp="1"/>
          </p:cNvSpPr>
          <p:nvPr/>
        </p:nvSpPr>
        <p:spPr>
          <a:xfrm>
            <a:off x="3288425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noGrp="1"/>
          </p:cNvSpPr>
          <p:nvPr/>
        </p:nvSpPr>
        <p:spPr>
          <a:xfrm>
            <a:off x="6230774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>
            <a:spLocks noGrp="1"/>
          </p:cNvSpPr>
          <p:nvPr/>
        </p:nvSpPr>
        <p:spPr>
          <a:xfrm>
            <a:off x="9173123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noGrp="1"/>
          </p:cNvSpPr>
          <p:nvPr/>
        </p:nvSpPr>
        <p:spPr>
          <a:xfrm>
            <a:off x="346076" y="1522006"/>
            <a:ext cx="2672801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EE5B3003-2C54-13C6-9832-7637201064DE}" type="slidenum">
              <a:rPr>
                <a:solidFill>
                  <a:schemeClr val="bg1"/>
                </a:solidFill>
              </a:rPr>
              <a:t>8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noGrp="1"/>
          </p:cNvSpPr>
          <p:nvPr>
            <p:ph type="body" idx="37"/>
          </p:nvPr>
        </p:nvSpPr>
        <p:spPr>
          <a:xfrm>
            <a:off x="520913" y="2339783"/>
            <a:ext cx="2284071" cy="423628"/>
          </a:xfrm>
        </p:spPr>
        <p:txBody>
          <a:bodyPr>
            <a:normAutofit/>
          </a:bodyPr>
          <a:lstStyle/>
          <a:p>
            <a:pPr>
              <a:defRPr sz="1275" b="1">
                <a:solidFill>
                  <a:srgbClr val="4B0C6B"/>
                </a:solidFill>
              </a:defRPr>
            </a:pPr>
            <a:r>
              <a:rPr sz="1275" b="1">
                <a:solidFill>
                  <a:srgbClr val="4B0C6B"/>
                </a:solidFill>
              </a:rPr>
              <a:t>Quality gate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520913" y="3128740"/>
            <a:ext cx="2284071" cy="2797928"/>
          </a:xfrm>
        </p:spPr>
        <p:txBody>
          <a:bodyPr>
            <a:normAutofit/>
          </a:bodyPr>
          <a:lstStyle/>
          <a:p>
            <a:pPr>
              <a:defRPr sz="1125">
                <a:solidFill>
                  <a:srgbClr val="2A1732"/>
                </a:solidFill>
              </a:defRPr>
            </a:pPr>
            <a:r>
              <a:rPr sz="1125">
                <a:solidFill>
                  <a:srgbClr val="2A1732"/>
                </a:solidFill>
              </a:rPr>
              <a:t>Проверяем дубликаты, обязательные поля, интервалы и географию. Ошибочные строки не попадают в план.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noGrp="1"/>
          </p:cNvSpPr>
          <p:nvPr>
            <p:ph type="body" idx="39"/>
          </p:nvPr>
        </p:nvSpPr>
        <p:spPr>
          <a:xfrm>
            <a:off x="3457903" y="2373557"/>
            <a:ext cx="2337416" cy="403756"/>
          </a:xfrm>
        </p:spPr>
        <p:txBody>
          <a:bodyPr>
            <a:normAutofit/>
          </a:bodyPr>
          <a:lstStyle/>
          <a:p>
            <a:pPr>
              <a:defRPr sz="1275" b="1">
                <a:solidFill>
                  <a:srgbClr val="4B0C6B"/>
                </a:solidFill>
              </a:defRPr>
            </a:pPr>
            <a:r>
              <a:rPr sz="1275" b="1">
                <a:solidFill>
                  <a:srgbClr val="4B0C6B"/>
                </a:solidFill>
              </a:rPr>
              <a:t>Hard constraints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3457903" y="3134070"/>
            <a:ext cx="2337416" cy="2797928"/>
          </a:xfrm>
        </p:spPr>
        <p:txBody>
          <a:bodyPr>
            <a:normAutofit/>
          </a:bodyPr>
          <a:lstStyle/>
          <a:p>
            <a:pPr>
              <a:defRPr sz="1125">
                <a:solidFill>
                  <a:srgbClr val="2A1732"/>
                </a:solidFill>
              </a:defRPr>
            </a:pPr>
            <a:r>
              <a:rPr sz="1125">
                <a:solidFill>
                  <a:srgbClr val="2A1732"/>
                </a:solidFill>
              </a:rPr>
              <a:t>Сначала проверяем выполнимость: навык, транспорт, смену, доступность и окно заявки.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noGrp="1"/>
          </p:cNvSpPr>
          <p:nvPr>
            <p:ph type="body" idx="41"/>
          </p:nvPr>
        </p:nvSpPr>
        <p:spPr>
          <a:xfrm>
            <a:off x="6456363" y="2379657"/>
            <a:ext cx="2268537" cy="403913"/>
          </a:xfrm>
        </p:spPr>
        <p:txBody>
          <a:bodyPr>
            <a:normAutofit/>
          </a:bodyPr>
          <a:lstStyle/>
          <a:p>
            <a:pPr>
              <a:defRPr sz="1275" b="1">
                <a:solidFill>
                  <a:srgbClr val="4B0C6B"/>
                </a:solidFill>
              </a:defRPr>
            </a:pPr>
            <a:r>
              <a:rPr sz="1275" b="1">
                <a:solidFill>
                  <a:srgbClr val="4B0C6B"/>
                </a:solidFill>
              </a:rPr>
              <a:t>Приоритизация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6456363" y="3136604"/>
            <a:ext cx="2268537" cy="2797928"/>
          </a:xfrm>
        </p:spPr>
        <p:txBody>
          <a:bodyPr>
            <a:normAutofit/>
          </a:bodyPr>
          <a:lstStyle/>
          <a:p>
            <a:pPr>
              <a:defRPr sz="1125">
                <a:solidFill>
                  <a:srgbClr val="2A1732"/>
                </a:solidFill>
              </a:defRPr>
            </a:pPr>
            <a:r>
              <a:rPr sz="1125">
                <a:solidFill>
                  <a:srgbClr val="2A1732"/>
                </a:solidFill>
              </a:rPr>
              <a:t>Priority aware regret оценивает дефицит допустимых вариантов и поднимает критичные заявки выше.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noGrp="1"/>
          </p:cNvSpPr>
          <p:nvPr>
            <p:ph type="body" idx="43"/>
          </p:nvPr>
        </p:nvSpPr>
        <p:spPr>
          <a:xfrm>
            <a:off x="9407534" y="2339783"/>
            <a:ext cx="2263553" cy="423628"/>
          </a:xfrm>
        </p:spPr>
        <p:txBody>
          <a:bodyPr>
            <a:normAutofit/>
          </a:bodyPr>
          <a:lstStyle/>
          <a:p>
            <a:pPr>
              <a:defRPr sz="1275" b="1">
                <a:solidFill>
                  <a:srgbClr val="4B0C6B"/>
                </a:solidFill>
              </a:defRPr>
            </a:pPr>
            <a:r>
              <a:rPr sz="1275" b="1">
                <a:solidFill>
                  <a:srgbClr val="4B0C6B"/>
                </a:solidFill>
              </a:rPr>
              <a:t>Дорожная матрица</a:t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noGrp="1"/>
          </p:cNvSpPr>
          <p:nvPr>
            <p:ph type="body" idx="44"/>
          </p:nvPr>
        </p:nvSpPr>
        <p:spPr>
          <a:xfrm>
            <a:off x="9407534" y="3128739"/>
            <a:ext cx="2263553" cy="2797928"/>
          </a:xfrm>
        </p:spPr>
        <p:txBody>
          <a:bodyPr>
            <a:normAutofit/>
          </a:bodyPr>
          <a:lstStyle/>
          <a:p>
            <a:pPr>
              <a:defRPr sz="1125">
                <a:solidFill>
                  <a:srgbClr val="2A1732"/>
                </a:solidFill>
              </a:defRPr>
            </a:pPr>
            <a:r>
              <a:rPr sz="1125">
                <a:solidFill>
                  <a:srgbClr val="2A1732"/>
                </a:solidFill>
              </a:rPr>
              <a:t>OSRM даёт время и расстояние по дорогам. При отказе сервис честно переключается в резервный режим.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>
            <a:normAutofit/>
          </a:bodyPr>
          <a:lstStyle/>
          <a:p>
            <a:pPr>
              <a:defRPr sz="1575" b="1">
                <a:solidFill>
                  <a:srgbClr val="FFFFFF"/>
                </a:solidFill>
              </a:defRPr>
            </a:pPr>
            <a:r>
              <a:rPr sz="1575" b="1" dirty="0">
                <a:solidFill>
                  <a:srgbClr val="FFFFFF"/>
                </a:solidFill>
              </a:rPr>
              <a:t>МЕТОДЫ, КОТОРЫЕ ИСПОЛЬЗУЕМ В MVP</a:t>
            </a:r>
            <a:endParaRPr dirty="0"/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520913" y="1772416"/>
            <a:ext cx="771003" cy="423628"/>
          </a:xfrm>
        </p:spPr>
        <p:txBody>
          <a:bodyPr>
            <a:normAutofit/>
          </a:bodyPr>
          <a:lstStyle/>
          <a:p>
            <a:pPr>
              <a:defRPr sz="1200" b="1">
                <a:solidFill>
                  <a:srgbClr val="FF0060"/>
                </a:solidFill>
              </a:defRPr>
            </a:pPr>
            <a:r>
              <a:rPr sz="1200" b="1">
                <a:solidFill>
                  <a:srgbClr val="FF0060"/>
                </a:solidFill>
              </a:rPr>
              <a:t>01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3449944" y="1766200"/>
            <a:ext cx="771003" cy="403756"/>
          </a:xfrm>
        </p:spPr>
        <p:txBody>
          <a:bodyPr>
            <a:normAutofit/>
          </a:bodyPr>
          <a:lstStyle/>
          <a:p>
            <a:pPr>
              <a:defRPr sz="1200" b="1">
                <a:solidFill>
                  <a:srgbClr val="FF0060"/>
                </a:solidFill>
              </a:defRPr>
            </a:pPr>
            <a:r>
              <a:rPr sz="1200" b="1">
                <a:solidFill>
                  <a:srgbClr val="FF0060"/>
                </a:solidFill>
              </a:rPr>
              <a:t>02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6456363" y="1766043"/>
            <a:ext cx="771003" cy="403913"/>
          </a:xfrm>
        </p:spPr>
        <p:txBody>
          <a:bodyPr>
            <a:normAutofit/>
          </a:bodyPr>
          <a:lstStyle/>
          <a:p>
            <a:pPr>
              <a:defRPr sz="1200" b="1">
                <a:solidFill>
                  <a:srgbClr val="FF0060"/>
                </a:solidFill>
              </a:defRPr>
            </a:pPr>
            <a:r>
              <a:rPr sz="1200" b="1">
                <a:solidFill>
                  <a:srgbClr val="FF0060"/>
                </a:solidFill>
              </a:rPr>
              <a:t>03</a:t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noGrp="1"/>
          </p:cNvSpPr>
          <p:nvPr>
            <p:ph type="body" idx="52"/>
          </p:nvPr>
        </p:nvSpPr>
        <p:spPr>
          <a:xfrm>
            <a:off x="9407534" y="1772416"/>
            <a:ext cx="771003" cy="423628"/>
          </a:xfrm>
        </p:spPr>
        <p:txBody>
          <a:bodyPr>
            <a:normAutofit/>
          </a:bodyPr>
          <a:lstStyle/>
          <a:p>
            <a:pPr>
              <a:defRPr sz="1200" b="1">
                <a:solidFill>
                  <a:srgbClr val="FF0060"/>
                </a:solidFill>
              </a:defRPr>
            </a:pPr>
            <a:r>
              <a:rPr sz="1200" b="1">
                <a:solidFill>
                  <a:srgbClr val="FF0060"/>
                </a:solidFill>
              </a:rPr>
              <a:t>04</a:t>
            </a: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>
            <a:spLocks noGrp="1"/>
          </p:cNvSpPr>
          <p:nvPr/>
        </p:nvSpPr>
        <p:spPr>
          <a:xfrm>
            <a:off x="4419477" y="1522006"/>
            <a:ext cx="3399397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>
            <a:spLocks noGrp="1"/>
          </p:cNvSpPr>
          <p:nvPr/>
        </p:nvSpPr>
        <p:spPr>
          <a:xfrm>
            <a:off x="836595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>
            <a:spLocks noGrp="1"/>
          </p:cNvSpPr>
          <p:nvPr/>
        </p:nvSpPr>
        <p:spPr>
          <a:xfrm>
            <a:off x="623888" y="1522006"/>
            <a:ext cx="3248506" cy="4678769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8C630A04-5A25-9E0C-9436-126091DB86B3}" type="slidenum">
              <a:rPr>
                <a:solidFill>
                  <a:schemeClr val="accent5"/>
                </a:solidFill>
              </a:rPr>
              <a:t>9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noGrp="1"/>
          </p:cNvSpPr>
          <p:nvPr>
            <p:ph type="body" idx="38"/>
          </p:nvPr>
        </p:nvSpPr>
        <p:spPr>
          <a:xfrm>
            <a:off x="780565" y="3128740"/>
            <a:ext cx="2965633" cy="2797928"/>
          </a:xfrm>
        </p:spPr>
        <p:txBody>
          <a:bodyPr>
            <a:normAutofit/>
          </a:bodyPr>
          <a:lstStyle/>
          <a:p>
            <a:pPr>
              <a:defRPr sz="1200">
                <a:solidFill>
                  <a:srgbClr val="2A1732"/>
                </a:solidFill>
              </a:defRPr>
            </a:pPr>
            <a:r>
              <a:rPr lang="ru-RU" sz="1600" dirty="0">
                <a:solidFill>
                  <a:srgbClr val="2A1732"/>
                </a:solidFill>
              </a:rPr>
              <a:t>Quality </a:t>
            </a:r>
            <a:r>
              <a:rPr lang="ru-RU" sz="1600" dirty="0" err="1">
                <a:solidFill>
                  <a:srgbClr val="2A1732"/>
                </a:solidFill>
              </a:rPr>
              <a:t>gate</a:t>
            </a:r>
            <a:r>
              <a:rPr lang="ru-RU" sz="1600" dirty="0">
                <a:solidFill>
                  <a:srgbClr val="2A1732"/>
                </a:solidFill>
              </a:rPr>
              <a:t> останавливает ошибки до расчёта. Это важнее сложной оптимизации на некорректном входе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noGrp="1"/>
          </p:cNvSpPr>
          <p:nvPr>
            <p:ph type="body" idx="40"/>
          </p:nvPr>
        </p:nvSpPr>
        <p:spPr>
          <a:xfrm>
            <a:off x="4623178" y="3128740"/>
            <a:ext cx="3034896" cy="2797928"/>
          </a:xfrm>
        </p:spPr>
        <p:txBody>
          <a:bodyPr>
            <a:normAutofit/>
          </a:bodyPr>
          <a:lstStyle/>
          <a:p>
            <a:pPr>
              <a:defRPr sz="1200">
                <a:solidFill>
                  <a:srgbClr val="2A1732"/>
                </a:solidFill>
              </a:defRPr>
            </a:pPr>
            <a:r>
              <a:rPr lang="ru-RU" sz="1600" dirty="0">
                <a:solidFill>
                  <a:srgbClr val="2A1732"/>
                </a:solidFill>
              </a:rPr>
              <a:t>Hard </a:t>
            </a:r>
            <a:r>
              <a:rPr lang="ru-RU" sz="1600" dirty="0" err="1">
                <a:solidFill>
                  <a:srgbClr val="2A1732"/>
                </a:solidFill>
              </a:rPr>
              <a:t>constraints</a:t>
            </a:r>
            <a:r>
              <a:rPr lang="ru-RU" sz="1600" dirty="0">
                <a:solidFill>
                  <a:srgbClr val="2A1732"/>
                </a:solidFill>
              </a:rPr>
              <a:t> не позволяют улучшать средний показатель ценой невыполнимой заявки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noGrp="1"/>
          </p:cNvSpPr>
          <p:nvPr>
            <p:ph type="body" idx="42"/>
          </p:nvPr>
        </p:nvSpPr>
        <p:spPr>
          <a:xfrm>
            <a:off x="8547959" y="3128740"/>
            <a:ext cx="2945464" cy="2797928"/>
          </a:xfrm>
        </p:spPr>
        <p:txBody>
          <a:bodyPr>
            <a:normAutofit/>
          </a:bodyPr>
          <a:lstStyle/>
          <a:p>
            <a:pPr>
              <a:defRPr sz="1200">
                <a:solidFill>
                  <a:srgbClr val="2A1732"/>
                </a:solidFill>
              </a:defRPr>
            </a:pPr>
            <a:r>
              <a:rPr lang="ru-RU" sz="1600" dirty="0">
                <a:solidFill>
                  <a:srgbClr val="2A1732"/>
                </a:solidFill>
              </a:rPr>
              <a:t>Локальное улучшение и фиксация факта позволяют быстро реагировать на изменения без полной перестройки маршрутов</a:t>
            </a:r>
            <a:endParaRPr sz="1600" dirty="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6" y="335426"/>
            <a:ext cx="11331221" cy="376138"/>
          </a:xfrm>
        </p:spPr>
        <p:txBody>
          <a:bodyPr>
            <a:normAutofit/>
          </a:bodyPr>
          <a:lstStyle/>
          <a:p>
            <a:pPr>
              <a:defRPr sz="1800" b="1">
                <a:solidFill>
                  <a:srgbClr val="4B0C6B"/>
                </a:solidFill>
              </a:defRPr>
            </a:pPr>
            <a:r>
              <a:rPr sz="1800" b="1" dirty="0">
                <a:solidFill>
                  <a:schemeClr val="bg1"/>
                </a:solidFill>
              </a:rPr>
              <a:t>ПОЧЕМУ ВЫБРАНЫ ИМЕННО ЭТИ МЕТОДЫ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noGrp="1"/>
          </p:cNvSpPr>
          <p:nvPr>
            <p:ph type="body" idx="49"/>
          </p:nvPr>
        </p:nvSpPr>
        <p:spPr>
          <a:xfrm>
            <a:off x="1513352" y="1766043"/>
            <a:ext cx="1311031" cy="601141"/>
          </a:xfrm>
        </p:spPr>
        <p:txBody>
          <a:bodyPr>
            <a:normAutofit/>
          </a:bodyPr>
          <a:lstStyle/>
          <a:p>
            <a:pPr>
              <a:defRPr sz="1425" b="1">
                <a:solidFill>
                  <a:srgbClr val="4B0C6B"/>
                </a:solidFill>
              </a:defRPr>
            </a:pPr>
            <a:r>
              <a:rPr lang="ru-RU" sz="1800" b="1" dirty="0">
                <a:solidFill>
                  <a:srgbClr val="4B0C6B"/>
                </a:solidFill>
              </a:rPr>
              <a:t>Данные</a:t>
            </a:r>
            <a:endParaRPr sz="5400" b="1" dirty="0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noGrp="1"/>
          </p:cNvSpPr>
          <p:nvPr>
            <p:ph type="body" idx="50"/>
          </p:nvPr>
        </p:nvSpPr>
        <p:spPr>
          <a:xfrm>
            <a:off x="5352584" y="1766154"/>
            <a:ext cx="1995265" cy="572942"/>
          </a:xfrm>
        </p:spPr>
        <p:txBody>
          <a:bodyPr>
            <a:normAutofit/>
          </a:bodyPr>
          <a:lstStyle/>
          <a:p>
            <a:pPr>
              <a:defRPr sz="1425" b="1">
                <a:solidFill>
                  <a:srgbClr val="4B0C6B"/>
                </a:solidFill>
              </a:defRPr>
            </a:pPr>
            <a:r>
              <a:rPr lang="ru-RU" sz="1800" b="1" dirty="0">
                <a:solidFill>
                  <a:srgbClr val="4B0C6B"/>
                </a:solidFill>
              </a:rPr>
              <a:t>Ограничения</a:t>
            </a:r>
            <a:endParaRPr sz="5400" b="1" dirty="0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noGrp="1"/>
          </p:cNvSpPr>
          <p:nvPr>
            <p:ph type="body" idx="51"/>
          </p:nvPr>
        </p:nvSpPr>
        <p:spPr>
          <a:xfrm>
            <a:off x="9396474" y="1766043"/>
            <a:ext cx="1311031" cy="573165"/>
          </a:xfrm>
        </p:spPr>
        <p:txBody>
          <a:bodyPr>
            <a:normAutofit/>
          </a:bodyPr>
          <a:lstStyle/>
          <a:p>
            <a:pPr>
              <a:defRPr sz="1425" b="1">
                <a:solidFill>
                  <a:srgbClr val="4B0C6B"/>
                </a:solidFill>
              </a:defRPr>
            </a:pPr>
            <a:r>
              <a:rPr lang="ru-RU" sz="1800" b="1" dirty="0">
                <a:solidFill>
                  <a:srgbClr val="4B0C6B"/>
                </a:solidFill>
              </a:rPr>
              <a:t>Смена</a:t>
            </a:r>
            <a:endParaRPr sz="5400" b="1" dirty="0">
              <a:solidFill>
                <a:schemeClr val="accent5"/>
              </a:solidFill>
            </a:endParaRP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5FA89F6-D394-413E-842D-8EEBB1ACCA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9096" y="1504367"/>
            <a:ext cx="812768" cy="812768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173936DA-B3AA-4568-B746-1982F4A90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727" y="1522006"/>
            <a:ext cx="812768" cy="812768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7D0CD41E-9CBD-42FB-A233-184DA1E569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5576" y="1522006"/>
            <a:ext cx="812768" cy="81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164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/>
          <p:nvPr/>
        </p:nvSpPr>
        <p:spPr>
          <a:xfrm>
            <a:off x="346074" y="324562"/>
            <a:ext cx="4990697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1615961" y="1244219"/>
            <a:ext cx="3866856" cy="423628"/>
          </a:xfrm>
        </p:spPr>
        <p:txBody>
          <a:bodyPr/>
          <a:lstStyle/>
          <a:p>
            <a:r>
              <a:rPr lang="ru-RU" dirty="0">
                <a:solidFill>
                  <a:srgbClr val="F92571"/>
                </a:solidFill>
              </a:rPr>
              <a:t>Проверка качества данных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1615964" y="1779440"/>
            <a:ext cx="3866856" cy="672075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chemeClr val="tx1"/>
                </a:solidFill>
              </a:rPr>
              <a:t>валидация заявок, инженеров и обязательных ограничений перед расчётом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1596605" y="2563108"/>
            <a:ext cx="3866856" cy="403756"/>
          </a:xfrm>
        </p:spPr>
        <p:txBody>
          <a:bodyPr/>
          <a:lstStyle/>
          <a:p>
            <a:r>
              <a:rPr lang="ru-RU" dirty="0">
                <a:solidFill>
                  <a:srgbClr val="F92571"/>
                </a:solidFill>
              </a:rPr>
              <a:t>Жёсткие ограничения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596605" y="3078457"/>
            <a:ext cx="3866856" cy="672075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проверка навыков, смен, транспорта и временных окон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96605" y="3862125"/>
            <a:ext cx="3866856" cy="403913"/>
          </a:xfrm>
        </p:spPr>
        <p:txBody>
          <a:bodyPr/>
          <a:lstStyle/>
          <a:p>
            <a:r>
              <a:rPr lang="ru-RU" dirty="0" err="1">
                <a:solidFill>
                  <a:srgbClr val="F92571"/>
                </a:solidFill>
              </a:rPr>
              <a:t>Приоритизация</a:t>
            </a:r>
            <a:r>
              <a:rPr lang="ru-RU" dirty="0">
                <a:solidFill>
                  <a:srgbClr val="F92571"/>
                </a:solidFill>
              </a:rPr>
              <a:t> заявок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596605" y="4377631"/>
            <a:ext cx="3866856" cy="672075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критичные задачи распределяются раньше плановых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7289068" y="1244219"/>
            <a:ext cx="3866856" cy="423628"/>
          </a:xfrm>
        </p:spPr>
        <p:txBody>
          <a:bodyPr/>
          <a:lstStyle/>
          <a:p>
            <a:r>
              <a:rPr lang="ru-RU" dirty="0">
                <a:solidFill>
                  <a:srgbClr val="F92571"/>
                </a:solidFill>
              </a:rPr>
              <a:t>Эвристика </a:t>
            </a:r>
            <a:r>
              <a:rPr lang="en-US" dirty="0">
                <a:solidFill>
                  <a:srgbClr val="F92571"/>
                </a:solidFill>
              </a:rPr>
              <a:t>regret-2</a:t>
            </a:r>
            <a:endParaRPr lang="ru-RU" dirty="0"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289071" y="1779440"/>
            <a:ext cx="3866856" cy="672075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chemeClr val="tx1"/>
                </a:solidFill>
              </a:rPr>
              <a:t>выбор назначения с учётом того, насколько ухудшится план, если отложить заявку</a:t>
            </a:r>
          </a:p>
        </p:txBody>
      </p:sp>
      <p:sp>
        <p:nvSpPr>
          <p:cNvPr id="10" name="Текст 9">
            <a:extLst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269712" y="2563108"/>
            <a:ext cx="3866856" cy="403756"/>
          </a:xfrm>
        </p:spPr>
        <p:txBody>
          <a:bodyPr/>
          <a:lstStyle/>
          <a:p>
            <a:r>
              <a:rPr lang="ru-RU" dirty="0">
                <a:solidFill>
                  <a:srgbClr val="F92571"/>
                </a:solidFill>
              </a:rPr>
              <a:t>Локальное улучшение маршрута</a:t>
            </a:r>
          </a:p>
        </p:txBody>
      </p:sp>
      <p:sp>
        <p:nvSpPr>
          <p:cNvPr id="11" name="Текст 10">
            <a:extLst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7269712" y="3078457"/>
            <a:ext cx="3866856" cy="672075"/>
          </a:xfrm>
        </p:spPr>
        <p:txBody>
          <a:bodyPr/>
          <a:lstStyle/>
          <a:p>
            <a:r>
              <a:rPr lang="ru-RU" dirty="0">
                <a:solidFill>
                  <a:schemeClr val="tx1"/>
                </a:solidFill>
              </a:rPr>
              <a:t>перестановка соседних визитов для сокращения времени в пути</a:t>
            </a:r>
          </a:p>
        </p:txBody>
      </p:sp>
      <p:sp>
        <p:nvSpPr>
          <p:cNvPr id="12" name="Текст 11">
            <a:extLst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269712" y="3862125"/>
            <a:ext cx="3866856" cy="403913"/>
          </a:xfrm>
        </p:spPr>
        <p:txBody>
          <a:bodyPr/>
          <a:lstStyle/>
          <a:p>
            <a:r>
              <a:rPr lang="ru-RU" dirty="0">
                <a:solidFill>
                  <a:srgbClr val="F92571"/>
                </a:solidFill>
              </a:rPr>
              <a:t>Сравнение с базовым распределением</a:t>
            </a:r>
          </a:p>
        </p:txBody>
      </p:sp>
      <p:sp>
        <p:nvSpPr>
          <p:cNvPr id="13" name="Текст 12">
            <a:extLst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269712" y="4377631"/>
            <a:ext cx="3866856" cy="672075"/>
          </a:xfrm>
        </p:spPr>
        <p:txBody>
          <a:bodyPr>
            <a:normAutofit lnSpcReduction="10000"/>
          </a:bodyPr>
          <a:lstStyle/>
          <a:p>
            <a:r>
              <a:rPr lang="ru-RU" dirty="0">
                <a:solidFill>
                  <a:schemeClr val="tx1"/>
                </a:solidFill>
              </a:rPr>
              <a:t>оценка результата относительно простого первого доступного назначения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 dirty="0"/>
              <a:t>Что дают применяемые методы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20913" y="1209494"/>
            <a:ext cx="771003" cy="423628"/>
          </a:xfrm>
        </p:spPr>
        <p:txBody>
          <a:bodyPr/>
          <a:lstStyle/>
          <a:p>
            <a:r>
              <a:rPr lang="ru-RU" b="1" dirty="0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6" name="Текст 15">
            <a:extLst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01557" y="2536168"/>
            <a:ext cx="771003" cy="403756"/>
          </a:xfrm>
        </p:spPr>
        <p:txBody>
          <a:bodyPr/>
          <a:lstStyle/>
          <a:p>
            <a:r>
              <a:rPr lang="ru-RU" b="1" dirty="0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01557" y="3842970"/>
            <a:ext cx="771003" cy="403913"/>
          </a:xfrm>
        </p:spPr>
        <p:txBody>
          <a:bodyPr/>
          <a:lstStyle/>
          <a:p>
            <a:r>
              <a:rPr lang="ru-RU" b="1" dirty="0">
                <a:solidFill>
                  <a:schemeClr val="accent5"/>
                </a:solidFill>
              </a:rPr>
              <a:t>03</a:t>
            </a:r>
          </a:p>
        </p:txBody>
      </p:sp>
      <p:sp>
        <p:nvSpPr>
          <p:cNvPr id="18" name="Текст 17">
            <a:extLst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194020" y="1209494"/>
            <a:ext cx="771003" cy="423628"/>
          </a:xfrm>
        </p:spPr>
        <p:txBody>
          <a:bodyPr/>
          <a:lstStyle/>
          <a:p>
            <a:r>
              <a:rPr lang="ru-RU" b="1" dirty="0">
                <a:solidFill>
                  <a:schemeClr val="accent5"/>
                </a:solidFill>
              </a:rPr>
              <a:t>05</a:t>
            </a:r>
          </a:p>
        </p:txBody>
      </p:sp>
      <p:sp>
        <p:nvSpPr>
          <p:cNvPr id="19" name="Текст 18">
            <a:extLst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6174664" y="2536641"/>
            <a:ext cx="771003" cy="403756"/>
          </a:xfrm>
        </p:spPr>
        <p:txBody>
          <a:bodyPr/>
          <a:lstStyle/>
          <a:p>
            <a:r>
              <a:rPr lang="ru-RU" b="1" dirty="0">
                <a:solidFill>
                  <a:schemeClr val="accent5"/>
                </a:solidFill>
              </a:rPr>
              <a:t>06</a:t>
            </a:r>
          </a:p>
        </p:txBody>
      </p:sp>
      <p:sp>
        <p:nvSpPr>
          <p:cNvPr id="20" name="Текст 19">
            <a:extLst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6180156" y="3801971"/>
            <a:ext cx="771003" cy="403913"/>
          </a:xfrm>
        </p:spPr>
        <p:txBody>
          <a:bodyPr/>
          <a:lstStyle/>
          <a:p>
            <a:r>
              <a:rPr lang="ru-RU" b="1" dirty="0">
                <a:solidFill>
                  <a:schemeClr val="accent5"/>
                </a:solidFill>
              </a:rPr>
              <a:t>07</a:t>
            </a:r>
          </a:p>
        </p:txBody>
      </p:sp>
      <p:sp>
        <p:nvSpPr>
          <p:cNvPr id="24" name="Текст 5">
            <a:extLst>
              <a:ext uri="{FF2B5EF4-FFF2-40B4-BE49-F238E27FC236}">
                <a16:creationId xmlns:a16="http://schemas.microsoft.com/office/drawing/2014/main" id="{B63E6B08-93E7-4F46-9212-A553A3A7D399}"/>
              </a:ext>
            </a:extLst>
          </p:cNvPr>
          <p:cNvSpPr txBox="1">
            <a:spLocks/>
          </p:cNvSpPr>
          <p:nvPr/>
        </p:nvSpPr>
        <p:spPr>
          <a:xfrm>
            <a:off x="1596605" y="5161299"/>
            <a:ext cx="3866856" cy="4039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578755" rtl="0" eaLnBrk="1" latinLnBrk="0" hangingPunct="1">
              <a:lnSpc>
                <a:spcPct val="90000"/>
              </a:lnSpc>
              <a:spcBef>
                <a:spcPts val="631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92571"/>
                </a:solidFill>
              </a:rPr>
              <a:t>Динамическое перепланирование </a:t>
            </a:r>
          </a:p>
        </p:txBody>
      </p:sp>
      <p:sp>
        <p:nvSpPr>
          <p:cNvPr id="25" name="Текст 6">
            <a:extLst>
              <a:ext uri="{FF2B5EF4-FFF2-40B4-BE49-F238E27FC236}">
                <a16:creationId xmlns:a16="http://schemas.microsoft.com/office/drawing/2014/main" id="{930D0D0B-B7A8-4530-846E-5AD26D9D63CB}"/>
              </a:ext>
            </a:extLst>
          </p:cNvPr>
          <p:cNvSpPr txBox="1">
            <a:spLocks/>
          </p:cNvSpPr>
          <p:nvPr/>
        </p:nvSpPr>
        <p:spPr>
          <a:xfrm>
            <a:off x="1596605" y="5676805"/>
            <a:ext cx="3866856" cy="6720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Font typeface="Arial" panose="020B0604020202020204" pitchFamily="34" charset="0"/>
              <a:buChar char="•"/>
              <a:defRPr sz="1452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пересчёт оставшихся визитов при изменении условий без затрагивания выполненных работ</a:t>
            </a:r>
          </a:p>
        </p:txBody>
      </p:sp>
      <p:sp>
        <p:nvSpPr>
          <p:cNvPr id="26" name="Текст 11">
            <a:extLst>
              <a:ext uri="{FF2B5EF4-FFF2-40B4-BE49-F238E27FC236}">
                <a16:creationId xmlns:a16="http://schemas.microsoft.com/office/drawing/2014/main" id="{57B10B2D-4AB8-4A34-8F37-FB90DC1A9121}"/>
              </a:ext>
            </a:extLst>
          </p:cNvPr>
          <p:cNvSpPr txBox="1">
            <a:spLocks/>
          </p:cNvSpPr>
          <p:nvPr/>
        </p:nvSpPr>
        <p:spPr>
          <a:xfrm>
            <a:off x="7269712" y="5161299"/>
            <a:ext cx="3866856" cy="40391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578755" rtl="0" eaLnBrk="1" latinLnBrk="0" hangingPunct="1">
              <a:lnSpc>
                <a:spcPct val="90000"/>
              </a:lnSpc>
              <a:spcBef>
                <a:spcPts val="631"/>
              </a:spcBef>
              <a:buFont typeface="Arial" panose="020B0604020202020204" pitchFamily="34" charset="0"/>
              <a:buNone/>
              <a:defRPr sz="1600" b="1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rgbClr val="F92571"/>
                </a:solidFill>
              </a:rPr>
              <a:t>Расчёт дорожного времени</a:t>
            </a:r>
          </a:p>
        </p:txBody>
      </p:sp>
      <p:sp>
        <p:nvSpPr>
          <p:cNvPr id="27" name="Текст 12">
            <a:extLst>
              <a:ext uri="{FF2B5EF4-FFF2-40B4-BE49-F238E27FC236}">
                <a16:creationId xmlns:a16="http://schemas.microsoft.com/office/drawing/2014/main" id="{E81201E4-1466-4B12-9840-FF1F7349DDBA}"/>
              </a:ext>
            </a:extLst>
          </p:cNvPr>
          <p:cNvSpPr txBox="1">
            <a:spLocks/>
          </p:cNvSpPr>
          <p:nvPr/>
        </p:nvSpPr>
        <p:spPr>
          <a:xfrm>
            <a:off x="7269712" y="5676805"/>
            <a:ext cx="3866856" cy="6720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Font typeface="Arial" panose="020B0604020202020204" pitchFamily="34" charset="0"/>
              <a:buChar char="•"/>
              <a:defRPr sz="1452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solidFill>
                  <a:schemeClr val="tx1"/>
                </a:solidFill>
              </a:rPr>
              <a:t>использование картографического сервиса с резервным сценарием при его недоступности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CA594331-A89C-443A-A2B7-1B7E98532756}"/>
              </a:ext>
            </a:extLst>
          </p:cNvPr>
          <p:cNvSpPr/>
          <p:nvPr/>
        </p:nvSpPr>
        <p:spPr>
          <a:xfrm>
            <a:off x="520913" y="5149930"/>
            <a:ext cx="771003" cy="423628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578755">
              <a:lnSpc>
                <a:spcPct val="90000"/>
              </a:lnSpc>
              <a:spcBef>
                <a:spcPts val="631"/>
              </a:spcBef>
            </a:pPr>
            <a:r>
              <a:rPr lang="ru-RU" sz="2800" b="1" dirty="0">
                <a:solidFill>
                  <a:schemeClr val="accent5"/>
                </a:solidFill>
              </a:rPr>
              <a:t>04</a:t>
            </a: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21567E03-3324-4522-A9E3-9A232BEEA5E2}"/>
              </a:ext>
            </a:extLst>
          </p:cNvPr>
          <p:cNvSpPr/>
          <p:nvPr/>
        </p:nvSpPr>
        <p:spPr>
          <a:xfrm>
            <a:off x="6180156" y="5098455"/>
            <a:ext cx="771003" cy="423628"/>
          </a:xfrm>
          <a:prstGeom prst="rect">
            <a:avLst/>
          </a:prstGeom>
          <a:solidFill>
            <a:schemeClr val="bg1">
              <a:alpha val="0"/>
            </a:schemeClr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defTabSz="578755">
              <a:lnSpc>
                <a:spcPct val="90000"/>
              </a:lnSpc>
              <a:spcBef>
                <a:spcPts val="631"/>
              </a:spcBef>
            </a:pPr>
            <a:r>
              <a:rPr lang="ru-RU" sz="2800" b="1" dirty="0">
                <a:solidFill>
                  <a:schemeClr val="accent5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08" y="326105"/>
            <a:ext cx="4781233" cy="415925"/>
          </a:xfrm>
        </p:spPr>
        <p:txBody>
          <a:bodyPr/>
          <a:lstStyle/>
          <a:p>
            <a:r>
              <a:rPr lang="ru-RU" sz="2000" dirty="0">
                <a:solidFill>
                  <a:schemeClr val="bg1"/>
                </a:solidFill>
              </a:rPr>
              <a:t>Применяемые алгоритмы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301AD3E-CFEE-4098-8062-D3B71C29DF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76" y="1170003"/>
            <a:ext cx="275857" cy="275857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90E4C50-805B-4A2B-A088-1A91968DFF6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276" y="1690224"/>
            <a:ext cx="3172054" cy="483996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2" name="Текст 1">
            <a:extLst>
              <a:ext uri="{FF2B5EF4-FFF2-40B4-BE49-F238E27FC236}">
                <a16:creationId xmlns:a16="http://schemas.microsoft.com/office/drawing/2014/main" id="{B07B6A33-044F-49C5-B4C5-3D578A8602AB}"/>
              </a:ext>
            </a:extLst>
          </p:cNvPr>
          <p:cNvSpPr txBox="1">
            <a:spLocks/>
          </p:cNvSpPr>
          <p:nvPr/>
        </p:nvSpPr>
        <p:spPr>
          <a:xfrm>
            <a:off x="1093133" y="1205994"/>
            <a:ext cx="3866856" cy="423628"/>
          </a:xfrm>
          <a:prstGeom prst="rect">
            <a:avLst/>
          </a:prstGeom>
        </p:spPr>
        <p:txBody>
          <a:bodyPr/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Font typeface="Arial" panose="020B0604020202020204" pitchFamily="34" charset="0"/>
              <a:buChar char="•"/>
              <a:defRPr sz="1452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Утреннее распределение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FB75BDB-FF6D-479D-8455-ACDC845B755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952" y="1690224"/>
            <a:ext cx="4031673" cy="484510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4" name="Текст 1">
            <a:extLst>
              <a:ext uri="{FF2B5EF4-FFF2-40B4-BE49-F238E27FC236}">
                <a16:creationId xmlns:a16="http://schemas.microsoft.com/office/drawing/2014/main" id="{CFB909DF-D1FA-4819-AF30-DE9AC6914CA0}"/>
              </a:ext>
            </a:extLst>
          </p:cNvPr>
          <p:cNvSpPr txBox="1">
            <a:spLocks/>
          </p:cNvSpPr>
          <p:nvPr/>
        </p:nvSpPr>
        <p:spPr>
          <a:xfrm>
            <a:off x="5433752" y="1227633"/>
            <a:ext cx="3866856" cy="423628"/>
          </a:xfrm>
          <a:prstGeom prst="rect">
            <a:avLst/>
          </a:prstGeom>
        </p:spPr>
        <p:txBody>
          <a:bodyPr/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Font typeface="Arial" panose="020B0604020202020204" pitchFamily="34" charset="0"/>
              <a:buChar char="•"/>
              <a:defRPr sz="1452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dirty="0">
                <a:solidFill>
                  <a:schemeClr val="bg1"/>
                </a:solidFill>
              </a:rPr>
              <a:t>Корректировка маршрутов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022B290-CED8-4EE3-989C-DB350D4A16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952" y="1205994"/>
            <a:ext cx="304800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716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12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08" y="326105"/>
            <a:ext cx="4781233" cy="415925"/>
          </a:xfrm>
        </p:spPr>
        <p:txBody>
          <a:bodyPr/>
          <a:lstStyle/>
          <a:p>
            <a:r>
              <a:rPr lang="ru-RU" sz="2000" dirty="0">
                <a:solidFill>
                  <a:schemeClr val="bg1"/>
                </a:solidFill>
              </a:rPr>
              <a:t>Алгоритмы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4ED056A-2ABE-4335-96DA-FA92046E24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707" y="1047403"/>
            <a:ext cx="9620597" cy="5411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2656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13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08" y="326105"/>
            <a:ext cx="4781233" cy="415925"/>
          </a:xfrm>
        </p:spPr>
        <p:txBody>
          <a:bodyPr/>
          <a:lstStyle/>
          <a:p>
            <a:r>
              <a:rPr lang="ru-RU" sz="2000" dirty="0">
                <a:solidFill>
                  <a:schemeClr val="bg1"/>
                </a:solidFill>
              </a:rPr>
              <a:t>Алгоритмы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D2B966F-E608-4707-8C14-7AACD2473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711" y="1131334"/>
            <a:ext cx="9600998" cy="5400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593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>
            <a:spLocks noGrp="1"/>
          </p:cNvSpPr>
          <p:nvPr/>
        </p:nvSpPr>
        <p:spPr>
          <a:xfrm>
            <a:off x="429141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>
            <a:spLocks noGrp="1"/>
          </p:cNvSpPr>
          <p:nvPr/>
        </p:nvSpPr>
        <p:spPr>
          <a:xfrm>
            <a:off x="4327137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>
            <a:spLocks noGrp="1"/>
          </p:cNvSpPr>
          <p:nvPr/>
        </p:nvSpPr>
        <p:spPr>
          <a:xfrm>
            <a:off x="8225133" y="3008209"/>
            <a:ext cx="3728347" cy="3656826"/>
          </a:xfrm>
          <a:prstGeom prst="roundRect">
            <a:avLst>
              <a:gd name="adj" fmla="val 5151"/>
            </a:avLst>
          </a:prstGeom>
          <a:solidFill>
            <a:schemeClr val="bg1"/>
          </a:solidFill>
          <a:ln w="9525" cmpd="sng">
            <a:noFill/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>
            <a:spLocks noGrp="1"/>
          </p:cNvSpPr>
          <p:nvPr/>
        </p:nvSpPr>
        <p:spPr>
          <a:xfrm>
            <a:off x="346074" y="324562"/>
            <a:ext cx="4444039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>
            <a:spLocks noGrp="1"/>
          </p:cNvSpPr>
          <p:nvPr/>
        </p:nvSpPr>
        <p:spPr>
          <a:xfrm>
            <a:off x="5340262" y="1366572"/>
            <a:ext cx="1504594" cy="140116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>
            <a:spLocks noGrp="1"/>
          </p:cNvSpPr>
          <p:nvPr/>
        </p:nvSpPr>
        <p:spPr>
          <a:xfrm>
            <a:off x="1541018" y="1366572"/>
            <a:ext cx="1504594" cy="140116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/>
          <a:lstStyle/>
          <a:p>
            <a:fld id="{388657AE-30A1-5A7A-6A7F-315D84436430}" type="slidenum">
              <a:rPr>
                <a:solidFill>
                  <a:schemeClr val="accent5"/>
                </a:solidFill>
              </a:rPr>
              <a:t>14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616304" y="328681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defRPr sz="1275">
                <a:solidFill>
                  <a:srgbClr val="3C1053"/>
                </a:solidFill>
              </a:defRPr>
            </a:pPr>
            <a:r>
              <a:rPr lang="ru-RU" sz="1600" b="1" dirty="0">
                <a:solidFill>
                  <a:schemeClr val="accent5"/>
                </a:solidFill>
                <a:latin typeface="+mj-lt"/>
                <a:ea typeface="+mj-ea"/>
                <a:cs typeface="Amatic SC" panose="00000500000000000000" pitchFamily="2" charset="-79"/>
              </a:rPr>
              <a:t>Диспетчер</a:t>
            </a:r>
            <a:endParaRPr sz="1600" b="1" dirty="0">
              <a:solidFill>
                <a:schemeClr val="accent5"/>
              </a:solidFill>
              <a:latin typeface="+mj-lt"/>
              <a:ea typeface="+mj-ea"/>
              <a:cs typeface="Amatic SC" panose="00000500000000000000" pitchFamily="2" charset="-79"/>
            </a:endParaRPr>
          </a:p>
          <a:p>
            <a:endParaRPr dirty="0">
              <a:solidFill>
                <a:schemeClr val="accent6"/>
              </a:solidFill>
            </a:endParaRPr>
          </a:p>
          <a:p>
            <a:pPr marL="144688" indent="-144688">
              <a:buFont typeface="Arial" panose="020B0604020202020204" pitchFamily="34" charset="0"/>
              <a:buChar char="•"/>
              <a:defRPr sz="1275">
                <a:solidFill>
                  <a:srgbClr val="3C1053"/>
                </a:solidFill>
              </a:defRPr>
            </a:pPr>
            <a:r>
              <a:rPr lang="ru-RU" sz="1452" dirty="0">
                <a:solidFill>
                  <a:schemeClr val="tx1"/>
                </a:solidFill>
              </a:rPr>
              <a:t>Быстрее получает допустимый план и меньше вручную проверяет навыки, транспорт, окна и смены</a:t>
            </a:r>
          </a:p>
          <a:p>
            <a:pPr marL="144688" indent="-144688">
              <a:buFont typeface="Arial" panose="020B0604020202020204" pitchFamily="34" charset="0"/>
              <a:buChar char="•"/>
              <a:defRPr sz="1275">
                <a:solidFill>
                  <a:srgbClr val="3C1053"/>
                </a:solidFill>
              </a:defRPr>
            </a:pPr>
            <a:r>
              <a:rPr lang="ru-RU" sz="1452" dirty="0">
                <a:solidFill>
                  <a:schemeClr val="tx1"/>
                </a:solidFill>
              </a:rPr>
              <a:t>Видит причины отказа и может корректировать план с журналом действий</a:t>
            </a:r>
          </a:p>
          <a:p>
            <a:pPr>
              <a:defRPr sz="1275">
                <a:solidFill>
                  <a:srgbClr val="3C1053"/>
                </a:solidFill>
              </a:defRPr>
            </a:pPr>
            <a:endParaRPr lang="ru-RU" sz="1452" dirty="0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4569890" y="3264544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defRPr sz="1275">
                <a:solidFill>
                  <a:srgbClr val="3C1053"/>
                </a:solidFill>
              </a:defRPr>
            </a:pPr>
            <a:r>
              <a:rPr lang="ru-RU" sz="1600" b="1" dirty="0">
                <a:solidFill>
                  <a:schemeClr val="accent5"/>
                </a:solidFill>
                <a:latin typeface="+mj-lt"/>
                <a:ea typeface="+mj-ea"/>
                <a:cs typeface="Amatic SC" panose="00000500000000000000" pitchFamily="2" charset="-79"/>
              </a:rPr>
              <a:t>Руководитель</a:t>
            </a:r>
            <a:endParaRPr sz="1600" b="1" dirty="0">
              <a:solidFill>
                <a:schemeClr val="accent5"/>
              </a:solidFill>
              <a:latin typeface="+mj-lt"/>
              <a:ea typeface="+mj-ea"/>
              <a:cs typeface="Amatic SC" panose="00000500000000000000" pitchFamily="2" charset="-79"/>
            </a:endParaRPr>
          </a:p>
          <a:p>
            <a:endParaRPr dirty="0">
              <a:solidFill>
                <a:schemeClr val="tx1"/>
              </a:solidFill>
            </a:endParaRPr>
          </a:p>
          <a:p>
            <a:pPr marL="144688" indent="-144688">
              <a:buFont typeface="Arial" panose="020B0604020202020204" pitchFamily="34" charset="0"/>
              <a:buChar char="•"/>
              <a:defRPr sz="1275">
                <a:solidFill>
                  <a:srgbClr val="3C1053"/>
                </a:solidFill>
              </a:defRPr>
            </a:pPr>
            <a:r>
              <a:rPr lang="ru-RU" sz="1452" dirty="0">
                <a:solidFill>
                  <a:schemeClr val="tx1"/>
                </a:solidFill>
              </a:rPr>
              <a:t>Сравнивает итог с </a:t>
            </a:r>
            <a:r>
              <a:rPr lang="ru-RU" sz="1452" dirty="0" err="1">
                <a:solidFill>
                  <a:schemeClr val="tx1"/>
                </a:solidFill>
              </a:rPr>
              <a:t>baseline</a:t>
            </a:r>
            <a:r>
              <a:rPr lang="ru-RU" sz="1452" dirty="0">
                <a:solidFill>
                  <a:schemeClr val="tx1"/>
                </a:solidFill>
              </a:rPr>
              <a:t> на одних данных</a:t>
            </a:r>
          </a:p>
          <a:p>
            <a:pPr marL="144688" indent="-144688">
              <a:buFont typeface="Arial" panose="020B0604020202020204" pitchFamily="34" charset="0"/>
              <a:buChar char="•"/>
              <a:defRPr sz="1275">
                <a:solidFill>
                  <a:srgbClr val="3C1053"/>
                </a:solidFill>
              </a:defRPr>
            </a:pPr>
            <a:r>
              <a:rPr lang="ru-RU" sz="1452" dirty="0">
                <a:solidFill>
                  <a:schemeClr val="tx1"/>
                </a:solidFill>
              </a:rPr>
              <a:t>Контролирует распределение заявок, пробег, загрузку специалистов и риски смены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8405081" y="3277471"/>
            <a:ext cx="3264113" cy="2375115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defRPr sz="1275">
                <a:solidFill>
                  <a:srgbClr val="3C1053"/>
                </a:solidFill>
              </a:defRPr>
            </a:pPr>
            <a:r>
              <a:rPr lang="ru-RU" sz="1600" b="1" dirty="0">
                <a:solidFill>
                  <a:schemeClr val="accent5"/>
                </a:solidFill>
                <a:latin typeface="+mj-lt"/>
                <a:ea typeface="+mj-ea"/>
                <a:cs typeface="Amatic SC" panose="00000500000000000000" pitchFamily="2" charset="-79"/>
              </a:rPr>
              <a:t>Инженер</a:t>
            </a:r>
            <a:endParaRPr sz="1600" b="1" dirty="0">
              <a:solidFill>
                <a:schemeClr val="accent5"/>
              </a:solidFill>
              <a:latin typeface="+mj-lt"/>
              <a:ea typeface="+mj-ea"/>
              <a:cs typeface="Amatic SC" panose="00000500000000000000" pitchFamily="2" charset="-79"/>
            </a:endParaRPr>
          </a:p>
          <a:p>
            <a:endParaRPr dirty="0">
              <a:solidFill>
                <a:schemeClr val="tx1"/>
              </a:solidFill>
            </a:endParaRPr>
          </a:p>
          <a:p>
            <a:pPr marL="144688" indent="-144688">
              <a:buFont typeface="Arial" panose="020B0604020202020204" pitchFamily="34" charset="0"/>
              <a:buChar char="•"/>
              <a:defRPr sz="1275">
                <a:solidFill>
                  <a:srgbClr val="3C1053"/>
                </a:solidFill>
              </a:defRPr>
            </a:pPr>
            <a:r>
              <a:rPr lang="ru-RU" sz="1452" dirty="0">
                <a:solidFill>
                  <a:schemeClr val="tx1"/>
                </a:solidFill>
              </a:rPr>
              <a:t>Получает более устойчивый маршрут</a:t>
            </a:r>
          </a:p>
          <a:p>
            <a:pPr marL="144688" indent="-144688">
              <a:buFont typeface="Arial" panose="020B0604020202020204" pitchFamily="34" charset="0"/>
              <a:buChar char="•"/>
              <a:defRPr sz="1275">
                <a:solidFill>
                  <a:srgbClr val="3C1053"/>
                </a:solidFill>
              </a:defRPr>
            </a:pPr>
            <a:r>
              <a:rPr lang="ru-RU" sz="1452" dirty="0">
                <a:solidFill>
                  <a:schemeClr val="tx1"/>
                </a:solidFill>
              </a:rPr>
              <a:t>Начатые работы не меняются при новом событии, поэтому план остаётся понятным в течение дня</a:t>
            </a:r>
          </a:p>
          <a:p>
            <a:pPr>
              <a:defRPr sz="1275">
                <a:solidFill>
                  <a:srgbClr val="3C1053"/>
                </a:solidFill>
              </a:defRPr>
            </a:pPr>
            <a:endParaRPr lang="ru-RU" sz="1452" dirty="0">
              <a:solidFill>
                <a:schemeClr val="tx1"/>
              </a:solidFill>
            </a:endParaRPr>
          </a:p>
        </p:txBody>
      </p:sp>
      <p:cxnSp>
        <p:nvCxnSpPr>
          <p:cNvPr id="119" name="Google Shape;2799;p94"/>
          <p:cNvCxnSpPr/>
          <p:nvPr/>
        </p:nvCxnSpPr>
        <p:spPr>
          <a:xfrm flipV="1">
            <a:off x="3041995" y="2120995"/>
            <a:ext cx="2288595" cy="1147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Google Shape;2830;p94">
            <a:extLst>
              <a:ext uri="{FF2B5EF4-FFF2-40B4-BE49-F238E27FC236}">
                <a16:creationId xmlns:a16="http://schemas.microsoft.com/office/drawing/2014/main" id="{F538E3A9-5C7B-406B-80D1-B9EEBFF33FF0}"/>
              </a:ext>
            </a:extLst>
          </p:cNvPr>
          <p:cNvSpPr>
            <a:spLocks noGrp="1"/>
          </p:cNvSpPr>
          <p:nvPr/>
        </p:nvSpPr>
        <p:spPr>
          <a:xfrm>
            <a:off x="1899087" y="1753233"/>
            <a:ext cx="738530" cy="687909"/>
          </a:xfrm>
          <a:custGeom>
            <a:avLst/>
            <a:gdLst/>
            <a:ahLst/>
            <a:cxnLst/>
            <a:rect l="l" t="t" r="r" b="b"/>
            <a:pathLst>
              <a:path w="10122" h="9289">
                <a:moveTo>
                  <a:pt x="9574" y="310"/>
                </a:moveTo>
                <a:cubicBezTo>
                  <a:pt x="9717" y="310"/>
                  <a:pt x="9812" y="406"/>
                  <a:pt x="9812" y="549"/>
                </a:cubicBezTo>
                <a:lnTo>
                  <a:pt x="9812" y="5669"/>
                </a:lnTo>
                <a:lnTo>
                  <a:pt x="8622" y="5669"/>
                </a:lnTo>
                <a:cubicBezTo>
                  <a:pt x="8550" y="5669"/>
                  <a:pt x="8479" y="5740"/>
                  <a:pt x="8479" y="5812"/>
                </a:cubicBezTo>
                <a:cubicBezTo>
                  <a:pt x="8479" y="5907"/>
                  <a:pt x="8550" y="5978"/>
                  <a:pt x="8622" y="5978"/>
                </a:cubicBezTo>
                <a:lnTo>
                  <a:pt x="9812" y="5978"/>
                </a:lnTo>
                <a:lnTo>
                  <a:pt x="9812" y="6455"/>
                </a:lnTo>
                <a:cubicBezTo>
                  <a:pt x="9812" y="6597"/>
                  <a:pt x="9717" y="6717"/>
                  <a:pt x="9574" y="6717"/>
                </a:cubicBezTo>
                <a:lnTo>
                  <a:pt x="549" y="6717"/>
                </a:lnTo>
                <a:cubicBezTo>
                  <a:pt x="406" y="6717"/>
                  <a:pt x="287" y="6597"/>
                  <a:pt x="287" y="6455"/>
                </a:cubicBezTo>
                <a:lnTo>
                  <a:pt x="287" y="5978"/>
                </a:lnTo>
                <a:lnTo>
                  <a:pt x="7979" y="5978"/>
                </a:lnTo>
                <a:cubicBezTo>
                  <a:pt x="8050" y="5978"/>
                  <a:pt x="8122" y="5907"/>
                  <a:pt x="8122" y="5812"/>
                </a:cubicBezTo>
                <a:cubicBezTo>
                  <a:pt x="8122" y="5740"/>
                  <a:pt x="8050" y="5669"/>
                  <a:pt x="7979" y="5669"/>
                </a:cubicBezTo>
                <a:lnTo>
                  <a:pt x="6216" y="5669"/>
                </a:lnTo>
                <a:lnTo>
                  <a:pt x="6216" y="310"/>
                </a:lnTo>
                <a:close/>
                <a:moveTo>
                  <a:pt x="5335" y="7002"/>
                </a:moveTo>
                <a:lnTo>
                  <a:pt x="5335" y="7193"/>
                </a:lnTo>
                <a:cubicBezTo>
                  <a:pt x="5335" y="7360"/>
                  <a:pt x="5216" y="7479"/>
                  <a:pt x="5049" y="7479"/>
                </a:cubicBezTo>
                <a:cubicBezTo>
                  <a:pt x="4907" y="7479"/>
                  <a:pt x="4764" y="7360"/>
                  <a:pt x="4764" y="7193"/>
                </a:cubicBezTo>
                <a:lnTo>
                  <a:pt x="4764" y="7002"/>
                </a:lnTo>
                <a:close/>
                <a:moveTo>
                  <a:pt x="6073" y="7002"/>
                </a:moveTo>
                <a:lnTo>
                  <a:pt x="6169" y="8241"/>
                </a:lnTo>
                <a:lnTo>
                  <a:pt x="3954" y="8241"/>
                </a:lnTo>
                <a:lnTo>
                  <a:pt x="4049" y="7002"/>
                </a:lnTo>
                <a:lnTo>
                  <a:pt x="4478" y="7002"/>
                </a:lnTo>
                <a:lnTo>
                  <a:pt x="4478" y="7193"/>
                </a:lnTo>
                <a:cubicBezTo>
                  <a:pt x="4478" y="7526"/>
                  <a:pt x="4740" y="7788"/>
                  <a:pt x="5049" y="7788"/>
                </a:cubicBezTo>
                <a:cubicBezTo>
                  <a:pt x="5383" y="7788"/>
                  <a:pt x="5645" y="7526"/>
                  <a:pt x="5645" y="7193"/>
                </a:cubicBezTo>
                <a:lnTo>
                  <a:pt x="5645" y="7002"/>
                </a:lnTo>
                <a:close/>
                <a:moveTo>
                  <a:pt x="6859" y="8526"/>
                </a:moveTo>
                <a:cubicBezTo>
                  <a:pt x="6883" y="8526"/>
                  <a:pt x="6907" y="8550"/>
                  <a:pt x="6907" y="8574"/>
                </a:cubicBezTo>
                <a:lnTo>
                  <a:pt x="6907" y="8955"/>
                </a:lnTo>
                <a:cubicBezTo>
                  <a:pt x="6907" y="8979"/>
                  <a:pt x="6883" y="9003"/>
                  <a:pt x="6859" y="9003"/>
                </a:cubicBezTo>
                <a:lnTo>
                  <a:pt x="3263" y="9003"/>
                </a:lnTo>
                <a:cubicBezTo>
                  <a:pt x="3240" y="9003"/>
                  <a:pt x="3216" y="8979"/>
                  <a:pt x="3216" y="8955"/>
                </a:cubicBezTo>
                <a:lnTo>
                  <a:pt x="3216" y="8574"/>
                </a:lnTo>
                <a:cubicBezTo>
                  <a:pt x="3216" y="8550"/>
                  <a:pt x="3240" y="8526"/>
                  <a:pt x="3263" y="8526"/>
                </a:cubicBezTo>
                <a:close/>
                <a:moveTo>
                  <a:pt x="549" y="1"/>
                </a:moveTo>
                <a:cubicBezTo>
                  <a:pt x="239" y="1"/>
                  <a:pt x="1" y="239"/>
                  <a:pt x="1" y="549"/>
                </a:cubicBezTo>
                <a:lnTo>
                  <a:pt x="1" y="1477"/>
                </a:lnTo>
                <a:cubicBezTo>
                  <a:pt x="1" y="1573"/>
                  <a:pt x="72" y="1644"/>
                  <a:pt x="144" y="1644"/>
                </a:cubicBezTo>
                <a:cubicBezTo>
                  <a:pt x="215" y="1644"/>
                  <a:pt x="287" y="1573"/>
                  <a:pt x="287" y="1477"/>
                </a:cubicBezTo>
                <a:lnTo>
                  <a:pt x="287" y="549"/>
                </a:lnTo>
                <a:cubicBezTo>
                  <a:pt x="287" y="406"/>
                  <a:pt x="406" y="310"/>
                  <a:pt x="549" y="310"/>
                </a:cubicBezTo>
                <a:lnTo>
                  <a:pt x="5907" y="310"/>
                </a:lnTo>
                <a:lnTo>
                  <a:pt x="5907" y="5669"/>
                </a:lnTo>
                <a:lnTo>
                  <a:pt x="287" y="5669"/>
                </a:lnTo>
                <a:lnTo>
                  <a:pt x="287" y="2144"/>
                </a:lnTo>
                <a:cubicBezTo>
                  <a:pt x="287" y="2049"/>
                  <a:pt x="239" y="2001"/>
                  <a:pt x="144" y="2001"/>
                </a:cubicBezTo>
                <a:cubicBezTo>
                  <a:pt x="72" y="2001"/>
                  <a:pt x="1" y="2049"/>
                  <a:pt x="1" y="2144"/>
                </a:cubicBezTo>
                <a:lnTo>
                  <a:pt x="1" y="6455"/>
                </a:lnTo>
                <a:cubicBezTo>
                  <a:pt x="1" y="6764"/>
                  <a:pt x="239" y="7002"/>
                  <a:pt x="549" y="7002"/>
                </a:cubicBezTo>
                <a:lnTo>
                  <a:pt x="3763" y="7002"/>
                </a:lnTo>
                <a:lnTo>
                  <a:pt x="3644" y="8241"/>
                </a:lnTo>
                <a:lnTo>
                  <a:pt x="3263" y="8241"/>
                </a:lnTo>
                <a:cubicBezTo>
                  <a:pt x="3073" y="8241"/>
                  <a:pt x="2930" y="8384"/>
                  <a:pt x="2930" y="8574"/>
                </a:cubicBezTo>
                <a:lnTo>
                  <a:pt x="2930" y="8955"/>
                </a:lnTo>
                <a:cubicBezTo>
                  <a:pt x="2930" y="9146"/>
                  <a:pt x="3073" y="9288"/>
                  <a:pt x="3263" y="9288"/>
                </a:cubicBezTo>
                <a:lnTo>
                  <a:pt x="6859" y="9288"/>
                </a:lnTo>
                <a:cubicBezTo>
                  <a:pt x="7050" y="9288"/>
                  <a:pt x="7193" y="9146"/>
                  <a:pt x="7193" y="8955"/>
                </a:cubicBezTo>
                <a:lnTo>
                  <a:pt x="7193" y="8574"/>
                </a:lnTo>
                <a:cubicBezTo>
                  <a:pt x="7193" y="8384"/>
                  <a:pt x="7050" y="8241"/>
                  <a:pt x="6859" y="8241"/>
                </a:cubicBezTo>
                <a:lnTo>
                  <a:pt x="6478" y="8241"/>
                </a:lnTo>
                <a:lnTo>
                  <a:pt x="6359" y="7002"/>
                </a:lnTo>
                <a:lnTo>
                  <a:pt x="9574" y="7002"/>
                </a:lnTo>
                <a:cubicBezTo>
                  <a:pt x="9860" y="7002"/>
                  <a:pt x="10122" y="6764"/>
                  <a:pt x="10122" y="6455"/>
                </a:cubicBezTo>
                <a:lnTo>
                  <a:pt x="10122" y="549"/>
                </a:lnTo>
                <a:cubicBezTo>
                  <a:pt x="10122" y="239"/>
                  <a:pt x="9884" y="1"/>
                  <a:pt x="9574" y="1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4" name="Google Shape;2831;p94">
            <a:extLst>
              <a:ext uri="{FF2B5EF4-FFF2-40B4-BE49-F238E27FC236}">
                <a16:creationId xmlns:a16="http://schemas.microsoft.com/office/drawing/2014/main" id="{6A25AEAC-89F0-49CB-B7BE-42F11987AD9D}"/>
              </a:ext>
            </a:extLst>
          </p:cNvPr>
          <p:cNvSpPr>
            <a:spLocks noGrp="1"/>
          </p:cNvSpPr>
          <p:nvPr/>
        </p:nvSpPr>
        <p:spPr>
          <a:xfrm>
            <a:off x="1975553" y="1888385"/>
            <a:ext cx="311114" cy="244088"/>
          </a:xfrm>
          <a:custGeom>
            <a:avLst/>
            <a:gdLst/>
            <a:ahLst/>
            <a:cxnLst/>
            <a:rect l="l" t="t" r="r" b="b"/>
            <a:pathLst>
              <a:path w="4264" h="3296">
                <a:moveTo>
                  <a:pt x="3897" y="0"/>
                </a:moveTo>
                <a:cubicBezTo>
                  <a:pt x="3848" y="0"/>
                  <a:pt x="3805" y="22"/>
                  <a:pt x="3787" y="57"/>
                </a:cubicBezTo>
                <a:lnTo>
                  <a:pt x="2835" y="1176"/>
                </a:lnTo>
                <a:lnTo>
                  <a:pt x="2596" y="986"/>
                </a:lnTo>
                <a:cubicBezTo>
                  <a:pt x="2573" y="962"/>
                  <a:pt x="2537" y="950"/>
                  <a:pt x="2501" y="950"/>
                </a:cubicBezTo>
                <a:cubicBezTo>
                  <a:pt x="2465" y="950"/>
                  <a:pt x="2430" y="962"/>
                  <a:pt x="2406" y="986"/>
                </a:cubicBezTo>
                <a:lnTo>
                  <a:pt x="1811" y="1629"/>
                </a:lnTo>
                <a:lnTo>
                  <a:pt x="1096" y="1367"/>
                </a:lnTo>
                <a:cubicBezTo>
                  <a:pt x="1084" y="1355"/>
                  <a:pt x="1066" y="1349"/>
                  <a:pt x="1045" y="1349"/>
                </a:cubicBezTo>
                <a:cubicBezTo>
                  <a:pt x="1025" y="1349"/>
                  <a:pt x="1001" y="1355"/>
                  <a:pt x="977" y="1367"/>
                </a:cubicBezTo>
                <a:lnTo>
                  <a:pt x="286" y="1772"/>
                </a:lnTo>
                <a:lnTo>
                  <a:pt x="286" y="462"/>
                </a:lnTo>
                <a:cubicBezTo>
                  <a:pt x="286" y="391"/>
                  <a:pt x="239" y="319"/>
                  <a:pt x="144" y="319"/>
                </a:cubicBezTo>
                <a:cubicBezTo>
                  <a:pt x="72" y="319"/>
                  <a:pt x="1" y="391"/>
                  <a:pt x="1" y="462"/>
                </a:cubicBezTo>
                <a:lnTo>
                  <a:pt x="1" y="3153"/>
                </a:lnTo>
                <a:cubicBezTo>
                  <a:pt x="1" y="3225"/>
                  <a:pt x="72" y="3296"/>
                  <a:pt x="144" y="3296"/>
                </a:cubicBezTo>
                <a:lnTo>
                  <a:pt x="4121" y="3296"/>
                </a:lnTo>
                <a:cubicBezTo>
                  <a:pt x="4192" y="3296"/>
                  <a:pt x="4263" y="3225"/>
                  <a:pt x="4263" y="3153"/>
                </a:cubicBezTo>
                <a:cubicBezTo>
                  <a:pt x="4263" y="3082"/>
                  <a:pt x="4216" y="3010"/>
                  <a:pt x="4121" y="3010"/>
                </a:cubicBezTo>
                <a:lnTo>
                  <a:pt x="4049" y="3010"/>
                </a:lnTo>
                <a:lnTo>
                  <a:pt x="4049" y="2200"/>
                </a:lnTo>
                <a:cubicBezTo>
                  <a:pt x="4049" y="2105"/>
                  <a:pt x="3978" y="2034"/>
                  <a:pt x="3906" y="2034"/>
                </a:cubicBezTo>
                <a:cubicBezTo>
                  <a:pt x="3811" y="2034"/>
                  <a:pt x="3739" y="2105"/>
                  <a:pt x="3739" y="2200"/>
                </a:cubicBezTo>
                <a:lnTo>
                  <a:pt x="3739" y="3010"/>
                </a:lnTo>
                <a:lnTo>
                  <a:pt x="3382" y="3010"/>
                </a:lnTo>
                <a:lnTo>
                  <a:pt x="3382" y="2891"/>
                </a:lnTo>
                <a:cubicBezTo>
                  <a:pt x="3382" y="2820"/>
                  <a:pt x="3311" y="2748"/>
                  <a:pt x="3239" y="2748"/>
                </a:cubicBezTo>
                <a:cubicBezTo>
                  <a:pt x="3144" y="2748"/>
                  <a:pt x="3073" y="2796"/>
                  <a:pt x="3073" y="2891"/>
                </a:cubicBezTo>
                <a:lnTo>
                  <a:pt x="3073" y="3010"/>
                </a:lnTo>
                <a:lnTo>
                  <a:pt x="2573" y="3010"/>
                </a:lnTo>
                <a:lnTo>
                  <a:pt x="2573" y="2891"/>
                </a:lnTo>
                <a:cubicBezTo>
                  <a:pt x="2573" y="2820"/>
                  <a:pt x="2525" y="2748"/>
                  <a:pt x="2430" y="2748"/>
                </a:cubicBezTo>
                <a:cubicBezTo>
                  <a:pt x="2358" y="2748"/>
                  <a:pt x="2287" y="2796"/>
                  <a:pt x="2287" y="2891"/>
                </a:cubicBezTo>
                <a:lnTo>
                  <a:pt x="2287" y="3010"/>
                </a:lnTo>
                <a:lnTo>
                  <a:pt x="1787" y="3010"/>
                </a:lnTo>
                <a:lnTo>
                  <a:pt x="1787" y="2891"/>
                </a:lnTo>
                <a:cubicBezTo>
                  <a:pt x="1787" y="2820"/>
                  <a:pt x="1715" y="2748"/>
                  <a:pt x="1644" y="2748"/>
                </a:cubicBezTo>
                <a:cubicBezTo>
                  <a:pt x="1549" y="2748"/>
                  <a:pt x="1501" y="2796"/>
                  <a:pt x="1501" y="2891"/>
                </a:cubicBezTo>
                <a:lnTo>
                  <a:pt x="1501" y="3010"/>
                </a:lnTo>
                <a:lnTo>
                  <a:pt x="1001" y="3010"/>
                </a:lnTo>
                <a:lnTo>
                  <a:pt x="1001" y="2891"/>
                </a:lnTo>
                <a:cubicBezTo>
                  <a:pt x="1001" y="2820"/>
                  <a:pt x="929" y="2748"/>
                  <a:pt x="834" y="2748"/>
                </a:cubicBezTo>
                <a:cubicBezTo>
                  <a:pt x="763" y="2748"/>
                  <a:pt x="691" y="2796"/>
                  <a:pt x="691" y="2891"/>
                </a:cubicBezTo>
                <a:lnTo>
                  <a:pt x="691" y="3010"/>
                </a:lnTo>
                <a:lnTo>
                  <a:pt x="286" y="3010"/>
                </a:lnTo>
                <a:lnTo>
                  <a:pt x="286" y="2105"/>
                </a:lnTo>
                <a:lnTo>
                  <a:pt x="1048" y="1653"/>
                </a:lnTo>
                <a:lnTo>
                  <a:pt x="1811" y="1962"/>
                </a:lnTo>
                <a:cubicBezTo>
                  <a:pt x="1823" y="1969"/>
                  <a:pt x="1838" y="1972"/>
                  <a:pt x="1853" y="1972"/>
                </a:cubicBezTo>
                <a:cubicBezTo>
                  <a:pt x="1893" y="1972"/>
                  <a:pt x="1936" y="1950"/>
                  <a:pt x="1953" y="1915"/>
                </a:cubicBezTo>
                <a:lnTo>
                  <a:pt x="2525" y="1296"/>
                </a:lnTo>
                <a:lnTo>
                  <a:pt x="2763" y="1486"/>
                </a:lnTo>
                <a:cubicBezTo>
                  <a:pt x="2795" y="1518"/>
                  <a:pt x="2828" y="1531"/>
                  <a:pt x="2860" y="1531"/>
                </a:cubicBezTo>
                <a:cubicBezTo>
                  <a:pt x="2899" y="1531"/>
                  <a:pt x="2938" y="1512"/>
                  <a:pt x="2977" y="1486"/>
                </a:cubicBezTo>
                <a:lnTo>
                  <a:pt x="3739" y="557"/>
                </a:lnTo>
                <a:lnTo>
                  <a:pt x="3739" y="1534"/>
                </a:lnTo>
                <a:cubicBezTo>
                  <a:pt x="3739" y="1629"/>
                  <a:pt x="3811" y="1677"/>
                  <a:pt x="3882" y="1677"/>
                </a:cubicBezTo>
                <a:cubicBezTo>
                  <a:pt x="3978" y="1677"/>
                  <a:pt x="4049" y="1629"/>
                  <a:pt x="4049" y="1534"/>
                </a:cubicBezTo>
                <a:lnTo>
                  <a:pt x="4049" y="152"/>
                </a:lnTo>
                <a:cubicBezTo>
                  <a:pt x="4049" y="81"/>
                  <a:pt x="4001" y="33"/>
                  <a:pt x="3954" y="10"/>
                </a:cubicBezTo>
                <a:cubicBezTo>
                  <a:pt x="3935" y="3"/>
                  <a:pt x="3916" y="0"/>
                  <a:pt x="389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5" name="Google Shape;2832;p94">
            <a:extLst>
              <a:ext uri="{FF2B5EF4-FFF2-40B4-BE49-F238E27FC236}">
                <a16:creationId xmlns:a16="http://schemas.microsoft.com/office/drawing/2014/main" id="{3504136F-174E-465D-95D8-13EE2C34474F}"/>
              </a:ext>
            </a:extLst>
          </p:cNvPr>
          <p:cNvSpPr>
            <a:spLocks noGrp="1"/>
          </p:cNvSpPr>
          <p:nvPr/>
        </p:nvSpPr>
        <p:spPr>
          <a:xfrm>
            <a:off x="2041584" y="1938446"/>
            <a:ext cx="20941" cy="30065"/>
          </a:xfrm>
          <a:custGeom>
            <a:avLst/>
            <a:gdLst/>
            <a:ahLst/>
            <a:cxnLst/>
            <a:rect l="l" t="t" r="r" b="b"/>
            <a:pathLst>
              <a:path w="287" h="406">
                <a:moveTo>
                  <a:pt x="143" y="0"/>
                </a:moveTo>
                <a:cubicBezTo>
                  <a:pt x="72" y="0"/>
                  <a:pt x="1" y="72"/>
                  <a:pt x="1" y="167"/>
                </a:cubicBezTo>
                <a:lnTo>
                  <a:pt x="1" y="262"/>
                </a:lnTo>
                <a:cubicBezTo>
                  <a:pt x="1" y="358"/>
                  <a:pt x="72" y="405"/>
                  <a:pt x="143" y="405"/>
                </a:cubicBezTo>
                <a:cubicBezTo>
                  <a:pt x="239" y="405"/>
                  <a:pt x="286" y="358"/>
                  <a:pt x="286" y="262"/>
                </a:cubicBezTo>
                <a:lnTo>
                  <a:pt x="286" y="167"/>
                </a:lnTo>
                <a:cubicBezTo>
                  <a:pt x="286" y="72"/>
                  <a:pt x="239" y="0"/>
                  <a:pt x="143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6" name="Google Shape;2833;p94">
            <a:extLst>
              <a:ext uri="{FF2B5EF4-FFF2-40B4-BE49-F238E27FC236}">
                <a16:creationId xmlns:a16="http://schemas.microsoft.com/office/drawing/2014/main" id="{1A03FD0C-7738-4A35-B44B-4D9C0E75CBAB}"/>
              </a:ext>
            </a:extLst>
          </p:cNvPr>
          <p:cNvSpPr>
            <a:spLocks noGrp="1"/>
          </p:cNvSpPr>
          <p:nvPr/>
        </p:nvSpPr>
        <p:spPr>
          <a:xfrm>
            <a:off x="2147599" y="1908454"/>
            <a:ext cx="22617" cy="30065"/>
          </a:xfrm>
          <a:custGeom>
            <a:avLst/>
            <a:gdLst/>
            <a:ahLst/>
            <a:cxnLst/>
            <a:rect l="l" t="t" r="r" b="b"/>
            <a:pathLst>
              <a:path w="310" h="406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lnTo>
                  <a:pt x="0" y="262"/>
                </a:lnTo>
                <a:cubicBezTo>
                  <a:pt x="0" y="334"/>
                  <a:pt x="72" y="405"/>
                  <a:pt x="143" y="405"/>
                </a:cubicBezTo>
                <a:cubicBezTo>
                  <a:pt x="238" y="405"/>
                  <a:pt x="310" y="334"/>
                  <a:pt x="310" y="262"/>
                </a:cubicBezTo>
                <a:lnTo>
                  <a:pt x="310" y="143"/>
                </a:lnTo>
                <a:cubicBezTo>
                  <a:pt x="310" y="72"/>
                  <a:pt x="238" y="1"/>
                  <a:pt x="143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7" name="Google Shape;2834;p94">
            <a:extLst>
              <a:ext uri="{FF2B5EF4-FFF2-40B4-BE49-F238E27FC236}">
                <a16:creationId xmlns:a16="http://schemas.microsoft.com/office/drawing/2014/main" id="{66009B1B-C6FD-49B8-8022-7BA95FBA9273}"/>
              </a:ext>
            </a:extLst>
          </p:cNvPr>
          <p:cNvSpPr>
            <a:spLocks noGrp="1"/>
          </p:cNvSpPr>
          <p:nvPr/>
        </p:nvSpPr>
        <p:spPr>
          <a:xfrm>
            <a:off x="2248361" y="1843211"/>
            <a:ext cx="22691" cy="30065"/>
          </a:xfrm>
          <a:custGeom>
            <a:avLst/>
            <a:gdLst/>
            <a:ahLst/>
            <a:cxnLst/>
            <a:rect l="l" t="t" r="r" b="b"/>
            <a:pathLst>
              <a:path w="311" h="406">
                <a:moveTo>
                  <a:pt x="167" y="0"/>
                </a:moveTo>
                <a:cubicBezTo>
                  <a:pt x="72" y="0"/>
                  <a:pt x="0" y="48"/>
                  <a:pt x="0" y="143"/>
                </a:cubicBezTo>
                <a:lnTo>
                  <a:pt x="0" y="239"/>
                </a:lnTo>
                <a:cubicBezTo>
                  <a:pt x="0" y="334"/>
                  <a:pt x="72" y="405"/>
                  <a:pt x="167" y="405"/>
                </a:cubicBezTo>
                <a:cubicBezTo>
                  <a:pt x="239" y="405"/>
                  <a:pt x="310" y="334"/>
                  <a:pt x="310" y="239"/>
                </a:cubicBezTo>
                <a:lnTo>
                  <a:pt x="310" y="143"/>
                </a:lnTo>
                <a:cubicBezTo>
                  <a:pt x="310" y="48"/>
                  <a:pt x="239" y="0"/>
                  <a:pt x="16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8" name="Google Shape;2835;p94">
            <a:extLst>
              <a:ext uri="{FF2B5EF4-FFF2-40B4-BE49-F238E27FC236}">
                <a16:creationId xmlns:a16="http://schemas.microsoft.com/office/drawing/2014/main" id="{842A40FB-E85F-45B5-A562-0F31875BC8DD}"/>
              </a:ext>
            </a:extLst>
          </p:cNvPr>
          <p:cNvSpPr>
            <a:spLocks noGrp="1"/>
          </p:cNvSpPr>
          <p:nvPr/>
        </p:nvSpPr>
        <p:spPr>
          <a:xfrm>
            <a:off x="1975553" y="1811440"/>
            <a:ext cx="59172" cy="21254"/>
          </a:xfrm>
          <a:custGeom>
            <a:avLst/>
            <a:gdLst/>
            <a:ahLst/>
            <a:cxnLst/>
            <a:rect l="l" t="t" r="r" b="b"/>
            <a:pathLst>
              <a:path w="811" h="287">
                <a:moveTo>
                  <a:pt x="144" y="1"/>
                </a:moveTo>
                <a:cubicBezTo>
                  <a:pt x="72" y="1"/>
                  <a:pt x="1" y="72"/>
                  <a:pt x="1" y="144"/>
                </a:cubicBezTo>
                <a:cubicBezTo>
                  <a:pt x="1" y="239"/>
                  <a:pt x="72" y="287"/>
                  <a:pt x="144" y="287"/>
                </a:cubicBezTo>
                <a:lnTo>
                  <a:pt x="667" y="287"/>
                </a:lnTo>
                <a:cubicBezTo>
                  <a:pt x="739" y="287"/>
                  <a:pt x="810" y="239"/>
                  <a:pt x="810" y="144"/>
                </a:cubicBezTo>
                <a:cubicBezTo>
                  <a:pt x="810" y="72"/>
                  <a:pt x="739" y="1"/>
                  <a:pt x="66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69" name="Google Shape;2836;p94">
            <a:extLst>
              <a:ext uri="{FF2B5EF4-FFF2-40B4-BE49-F238E27FC236}">
                <a16:creationId xmlns:a16="http://schemas.microsoft.com/office/drawing/2014/main" id="{543973E7-B229-4280-95BA-F224FDE6583D}"/>
              </a:ext>
            </a:extLst>
          </p:cNvPr>
          <p:cNvSpPr>
            <a:spLocks noGrp="1"/>
          </p:cNvSpPr>
          <p:nvPr/>
        </p:nvSpPr>
        <p:spPr>
          <a:xfrm>
            <a:off x="1975553" y="1852022"/>
            <a:ext cx="102586" cy="23030"/>
          </a:xfrm>
          <a:custGeom>
            <a:avLst/>
            <a:gdLst/>
            <a:ahLst/>
            <a:cxnLst/>
            <a:rect l="l" t="t" r="r" b="b"/>
            <a:pathLst>
              <a:path w="1406" h="311">
                <a:moveTo>
                  <a:pt x="144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9"/>
                  <a:pt x="72" y="310"/>
                  <a:pt x="144" y="310"/>
                </a:cubicBezTo>
                <a:lnTo>
                  <a:pt x="1239" y="310"/>
                </a:lnTo>
                <a:cubicBezTo>
                  <a:pt x="1334" y="310"/>
                  <a:pt x="1406" y="239"/>
                  <a:pt x="1406" y="143"/>
                </a:cubicBezTo>
                <a:cubicBezTo>
                  <a:pt x="1406" y="72"/>
                  <a:pt x="1334" y="0"/>
                  <a:pt x="1239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0" name="Google Shape;2837;p94">
            <a:extLst>
              <a:ext uri="{FF2B5EF4-FFF2-40B4-BE49-F238E27FC236}">
                <a16:creationId xmlns:a16="http://schemas.microsoft.com/office/drawing/2014/main" id="{41575783-12EF-40FC-B478-EC50906BBB87}"/>
              </a:ext>
            </a:extLst>
          </p:cNvPr>
          <p:cNvSpPr>
            <a:spLocks noGrp="1"/>
          </p:cNvSpPr>
          <p:nvPr/>
        </p:nvSpPr>
        <p:spPr>
          <a:xfrm>
            <a:off x="2451636" y="1846765"/>
            <a:ext cx="67855" cy="116416"/>
          </a:xfrm>
          <a:custGeom>
            <a:avLst/>
            <a:gdLst/>
            <a:ahLst/>
            <a:cxnLst/>
            <a:rect l="l" t="t" r="r" b="b"/>
            <a:pathLst>
              <a:path w="930" h="1572">
                <a:moveTo>
                  <a:pt x="453" y="0"/>
                </a:moveTo>
                <a:cubicBezTo>
                  <a:pt x="382" y="0"/>
                  <a:pt x="310" y="48"/>
                  <a:pt x="310" y="143"/>
                </a:cubicBezTo>
                <a:lnTo>
                  <a:pt x="310" y="167"/>
                </a:lnTo>
                <a:cubicBezTo>
                  <a:pt x="144" y="214"/>
                  <a:pt x="1" y="357"/>
                  <a:pt x="1" y="548"/>
                </a:cubicBezTo>
                <a:cubicBezTo>
                  <a:pt x="1" y="762"/>
                  <a:pt x="167" y="929"/>
                  <a:pt x="382" y="929"/>
                </a:cubicBezTo>
                <a:lnTo>
                  <a:pt x="525" y="929"/>
                </a:lnTo>
                <a:cubicBezTo>
                  <a:pt x="572" y="929"/>
                  <a:pt x="620" y="976"/>
                  <a:pt x="620" y="1024"/>
                </a:cubicBezTo>
                <a:cubicBezTo>
                  <a:pt x="620" y="1072"/>
                  <a:pt x="572" y="1119"/>
                  <a:pt x="525" y="1119"/>
                </a:cubicBezTo>
                <a:lnTo>
                  <a:pt x="382" y="1119"/>
                </a:lnTo>
                <a:cubicBezTo>
                  <a:pt x="358" y="1119"/>
                  <a:pt x="310" y="1095"/>
                  <a:pt x="310" y="1048"/>
                </a:cubicBezTo>
                <a:cubicBezTo>
                  <a:pt x="293" y="994"/>
                  <a:pt x="234" y="967"/>
                  <a:pt x="176" y="967"/>
                </a:cubicBezTo>
                <a:cubicBezTo>
                  <a:pt x="157" y="967"/>
                  <a:pt x="138" y="970"/>
                  <a:pt x="120" y="976"/>
                </a:cubicBezTo>
                <a:cubicBezTo>
                  <a:pt x="48" y="1024"/>
                  <a:pt x="1" y="1095"/>
                  <a:pt x="48" y="1167"/>
                </a:cubicBezTo>
                <a:cubicBezTo>
                  <a:pt x="96" y="1286"/>
                  <a:pt x="191" y="1381"/>
                  <a:pt x="310" y="1405"/>
                </a:cubicBezTo>
                <a:cubicBezTo>
                  <a:pt x="310" y="1500"/>
                  <a:pt x="382" y="1572"/>
                  <a:pt x="453" y="1572"/>
                </a:cubicBezTo>
                <a:cubicBezTo>
                  <a:pt x="549" y="1572"/>
                  <a:pt x="620" y="1500"/>
                  <a:pt x="620" y="1405"/>
                </a:cubicBezTo>
                <a:cubicBezTo>
                  <a:pt x="787" y="1357"/>
                  <a:pt x="930" y="1215"/>
                  <a:pt x="930" y="1024"/>
                </a:cubicBezTo>
                <a:cubicBezTo>
                  <a:pt x="930" y="810"/>
                  <a:pt x="739" y="643"/>
                  <a:pt x="525" y="643"/>
                </a:cubicBezTo>
                <a:lnTo>
                  <a:pt x="382" y="643"/>
                </a:lnTo>
                <a:cubicBezTo>
                  <a:pt x="334" y="643"/>
                  <a:pt x="310" y="595"/>
                  <a:pt x="310" y="548"/>
                </a:cubicBezTo>
                <a:cubicBezTo>
                  <a:pt x="310" y="500"/>
                  <a:pt x="334" y="453"/>
                  <a:pt x="382" y="453"/>
                </a:cubicBezTo>
                <a:lnTo>
                  <a:pt x="525" y="453"/>
                </a:lnTo>
                <a:cubicBezTo>
                  <a:pt x="572" y="453"/>
                  <a:pt x="596" y="476"/>
                  <a:pt x="620" y="500"/>
                </a:cubicBezTo>
                <a:cubicBezTo>
                  <a:pt x="635" y="546"/>
                  <a:pt x="681" y="573"/>
                  <a:pt x="730" y="573"/>
                </a:cubicBezTo>
                <a:cubicBezTo>
                  <a:pt x="757" y="573"/>
                  <a:pt x="785" y="565"/>
                  <a:pt x="810" y="548"/>
                </a:cubicBezTo>
                <a:cubicBezTo>
                  <a:pt x="882" y="500"/>
                  <a:pt x="906" y="405"/>
                  <a:pt x="858" y="333"/>
                </a:cubicBezTo>
                <a:cubicBezTo>
                  <a:pt x="787" y="238"/>
                  <a:pt x="715" y="191"/>
                  <a:pt x="620" y="167"/>
                </a:cubicBezTo>
                <a:lnTo>
                  <a:pt x="620" y="143"/>
                </a:lnTo>
                <a:cubicBezTo>
                  <a:pt x="620" y="48"/>
                  <a:pt x="549" y="0"/>
                  <a:pt x="453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1" name="Google Shape;2838;p94">
            <a:extLst>
              <a:ext uri="{FF2B5EF4-FFF2-40B4-BE49-F238E27FC236}">
                <a16:creationId xmlns:a16="http://schemas.microsoft.com/office/drawing/2014/main" id="{6F0CCC03-3E72-49CA-80F0-A626E2390658}"/>
              </a:ext>
            </a:extLst>
          </p:cNvPr>
          <p:cNvSpPr>
            <a:spLocks noGrp="1"/>
          </p:cNvSpPr>
          <p:nvPr/>
        </p:nvSpPr>
        <p:spPr>
          <a:xfrm>
            <a:off x="2394287" y="1811440"/>
            <a:ext cx="182552" cy="185289"/>
          </a:xfrm>
          <a:custGeom>
            <a:avLst/>
            <a:gdLst/>
            <a:ahLst/>
            <a:cxnLst/>
            <a:rect l="l" t="t" r="r" b="b"/>
            <a:pathLst>
              <a:path w="2502" h="2502">
                <a:moveTo>
                  <a:pt x="1239" y="287"/>
                </a:moveTo>
                <a:cubicBezTo>
                  <a:pt x="1763" y="287"/>
                  <a:pt x="2216" y="715"/>
                  <a:pt x="2216" y="1263"/>
                </a:cubicBezTo>
                <a:cubicBezTo>
                  <a:pt x="2216" y="1787"/>
                  <a:pt x="1787" y="2215"/>
                  <a:pt x="1239" y="2215"/>
                </a:cubicBezTo>
                <a:cubicBezTo>
                  <a:pt x="715" y="2215"/>
                  <a:pt x="287" y="1787"/>
                  <a:pt x="287" y="1263"/>
                </a:cubicBezTo>
                <a:cubicBezTo>
                  <a:pt x="287" y="715"/>
                  <a:pt x="715" y="287"/>
                  <a:pt x="1239" y="287"/>
                </a:cubicBezTo>
                <a:close/>
                <a:moveTo>
                  <a:pt x="1239" y="1"/>
                </a:moveTo>
                <a:cubicBezTo>
                  <a:pt x="549" y="1"/>
                  <a:pt x="1" y="548"/>
                  <a:pt x="1" y="1239"/>
                </a:cubicBezTo>
                <a:cubicBezTo>
                  <a:pt x="1" y="1954"/>
                  <a:pt x="549" y="2501"/>
                  <a:pt x="1239" y="2501"/>
                </a:cubicBezTo>
                <a:cubicBezTo>
                  <a:pt x="1930" y="2501"/>
                  <a:pt x="2501" y="1954"/>
                  <a:pt x="2501" y="1239"/>
                </a:cubicBezTo>
                <a:cubicBezTo>
                  <a:pt x="2501" y="572"/>
                  <a:pt x="1930" y="1"/>
                  <a:pt x="1239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2" name="Google Shape;2839;p94">
            <a:extLst>
              <a:ext uri="{FF2B5EF4-FFF2-40B4-BE49-F238E27FC236}">
                <a16:creationId xmlns:a16="http://schemas.microsoft.com/office/drawing/2014/main" id="{18635451-A733-4CC9-B50F-300CE78CFF2E}"/>
              </a:ext>
            </a:extLst>
          </p:cNvPr>
          <p:cNvSpPr>
            <a:spLocks noGrp="1"/>
          </p:cNvSpPr>
          <p:nvPr/>
        </p:nvSpPr>
        <p:spPr>
          <a:xfrm>
            <a:off x="2385605" y="2023092"/>
            <a:ext cx="99157" cy="23030"/>
          </a:xfrm>
          <a:custGeom>
            <a:avLst/>
            <a:gdLst/>
            <a:ahLst/>
            <a:cxnLst/>
            <a:rect l="l" t="t" r="r" b="b"/>
            <a:pathLst>
              <a:path w="1359" h="311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1215" y="310"/>
                </a:lnTo>
                <a:cubicBezTo>
                  <a:pt x="1287" y="310"/>
                  <a:pt x="1358" y="239"/>
                  <a:pt x="1358" y="143"/>
                </a:cubicBezTo>
                <a:cubicBezTo>
                  <a:pt x="1358" y="72"/>
                  <a:pt x="1311" y="0"/>
                  <a:pt x="1215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3" name="Google Shape;2840;p94">
            <a:extLst>
              <a:ext uri="{FF2B5EF4-FFF2-40B4-BE49-F238E27FC236}">
                <a16:creationId xmlns:a16="http://schemas.microsoft.com/office/drawing/2014/main" id="{26780036-310A-4D31-A416-A5EB695F5FF5}"/>
              </a:ext>
            </a:extLst>
          </p:cNvPr>
          <p:cNvSpPr>
            <a:spLocks noGrp="1"/>
          </p:cNvSpPr>
          <p:nvPr/>
        </p:nvSpPr>
        <p:spPr>
          <a:xfrm>
            <a:off x="2519420" y="2067156"/>
            <a:ext cx="55670" cy="21254"/>
          </a:xfrm>
          <a:custGeom>
            <a:avLst/>
            <a:gdLst/>
            <a:ahLst/>
            <a:cxnLst/>
            <a:rect l="l" t="t" r="r" b="b"/>
            <a:pathLst>
              <a:path w="763" h="287">
                <a:moveTo>
                  <a:pt x="143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3" y="287"/>
                </a:cubicBezTo>
                <a:lnTo>
                  <a:pt x="596" y="287"/>
                </a:lnTo>
                <a:cubicBezTo>
                  <a:pt x="691" y="287"/>
                  <a:pt x="763" y="215"/>
                  <a:pt x="763" y="144"/>
                </a:cubicBezTo>
                <a:cubicBezTo>
                  <a:pt x="763" y="72"/>
                  <a:pt x="691" y="1"/>
                  <a:pt x="596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4" name="Google Shape;2841;p94">
            <a:extLst>
              <a:ext uri="{FF2B5EF4-FFF2-40B4-BE49-F238E27FC236}">
                <a16:creationId xmlns:a16="http://schemas.microsoft.com/office/drawing/2014/main" id="{76A8C9FE-70F9-46C6-890D-45DD60BFE8B2}"/>
              </a:ext>
            </a:extLst>
          </p:cNvPr>
          <p:cNvSpPr>
            <a:spLocks noGrp="1"/>
          </p:cNvSpPr>
          <p:nvPr/>
        </p:nvSpPr>
        <p:spPr>
          <a:xfrm>
            <a:off x="2385605" y="2067156"/>
            <a:ext cx="62675" cy="21254"/>
          </a:xfrm>
          <a:custGeom>
            <a:avLst/>
            <a:gdLst/>
            <a:ahLst/>
            <a:cxnLst/>
            <a:rect l="l" t="t" r="r" b="b"/>
            <a:pathLst>
              <a:path w="859" h="287">
                <a:moveTo>
                  <a:pt x="144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4" y="287"/>
                </a:cubicBezTo>
                <a:lnTo>
                  <a:pt x="715" y="287"/>
                </a:lnTo>
                <a:cubicBezTo>
                  <a:pt x="787" y="287"/>
                  <a:pt x="858" y="215"/>
                  <a:pt x="858" y="144"/>
                </a:cubicBezTo>
                <a:cubicBezTo>
                  <a:pt x="858" y="72"/>
                  <a:pt x="811" y="1"/>
                  <a:pt x="7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5" name="Google Shape;2842;p94">
            <a:extLst>
              <a:ext uri="{FF2B5EF4-FFF2-40B4-BE49-F238E27FC236}">
                <a16:creationId xmlns:a16="http://schemas.microsoft.com/office/drawing/2014/main" id="{97FED165-3DBA-426F-92BB-B0C3DB516285}"/>
              </a:ext>
            </a:extLst>
          </p:cNvPr>
          <p:cNvSpPr>
            <a:spLocks noGrp="1"/>
          </p:cNvSpPr>
          <p:nvPr/>
        </p:nvSpPr>
        <p:spPr>
          <a:xfrm>
            <a:off x="2463821" y="2067156"/>
            <a:ext cx="41808" cy="21254"/>
          </a:xfrm>
          <a:custGeom>
            <a:avLst/>
            <a:gdLst/>
            <a:ahLst/>
            <a:cxnLst/>
            <a:rect l="l" t="t" r="r" b="b"/>
            <a:pathLst>
              <a:path w="573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429" y="287"/>
                </a:lnTo>
                <a:cubicBezTo>
                  <a:pt x="501" y="287"/>
                  <a:pt x="572" y="215"/>
                  <a:pt x="572" y="144"/>
                </a:cubicBezTo>
                <a:cubicBezTo>
                  <a:pt x="572" y="72"/>
                  <a:pt x="501" y="1"/>
                  <a:pt x="429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76" name="Google Shape;2843;p94">
            <a:extLst>
              <a:ext uri="{FF2B5EF4-FFF2-40B4-BE49-F238E27FC236}">
                <a16:creationId xmlns:a16="http://schemas.microsoft.com/office/drawing/2014/main" id="{386E4A42-856C-4795-ABCB-63A7928B33C3}"/>
              </a:ext>
            </a:extLst>
          </p:cNvPr>
          <p:cNvSpPr>
            <a:spLocks noGrp="1"/>
          </p:cNvSpPr>
          <p:nvPr/>
        </p:nvSpPr>
        <p:spPr>
          <a:xfrm>
            <a:off x="2385605" y="2109516"/>
            <a:ext cx="187734" cy="22957"/>
          </a:xfrm>
          <a:custGeom>
            <a:avLst/>
            <a:gdLst/>
            <a:ahLst/>
            <a:cxnLst/>
            <a:rect l="l" t="t" r="r" b="b"/>
            <a:pathLst>
              <a:path w="2573" h="310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2430" y="310"/>
                </a:lnTo>
                <a:cubicBezTo>
                  <a:pt x="2525" y="310"/>
                  <a:pt x="2573" y="239"/>
                  <a:pt x="2573" y="143"/>
                </a:cubicBezTo>
                <a:cubicBezTo>
                  <a:pt x="2573" y="72"/>
                  <a:pt x="2525" y="0"/>
                  <a:pt x="2430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4" name="Google Shape;2819;p94">
            <a:extLst>
              <a:ext uri="{FF2B5EF4-FFF2-40B4-BE49-F238E27FC236}">
                <a16:creationId xmlns:a16="http://schemas.microsoft.com/office/drawing/2014/main" id="{148574C2-EBD4-4199-9829-8DFDEA9C78B4}"/>
              </a:ext>
            </a:extLst>
          </p:cNvPr>
          <p:cNvSpPr>
            <a:spLocks noGrp="1"/>
          </p:cNvSpPr>
          <p:nvPr/>
        </p:nvSpPr>
        <p:spPr>
          <a:xfrm>
            <a:off x="6120541" y="1913934"/>
            <a:ext cx="38305" cy="28808"/>
          </a:xfrm>
          <a:custGeom>
            <a:avLst/>
            <a:gdLst/>
            <a:ahLst/>
            <a:cxnLst/>
            <a:rect l="l" t="t" r="r" b="b"/>
            <a:pathLst>
              <a:path w="525" h="389">
                <a:moveTo>
                  <a:pt x="348" y="1"/>
                </a:moveTo>
                <a:cubicBezTo>
                  <a:pt x="335" y="1"/>
                  <a:pt x="323" y="3"/>
                  <a:pt x="310" y="7"/>
                </a:cubicBezTo>
                <a:lnTo>
                  <a:pt x="96" y="102"/>
                </a:lnTo>
                <a:cubicBezTo>
                  <a:pt x="24" y="126"/>
                  <a:pt x="1" y="221"/>
                  <a:pt x="24" y="293"/>
                </a:cubicBezTo>
                <a:cubicBezTo>
                  <a:pt x="48" y="340"/>
                  <a:pt x="96" y="388"/>
                  <a:pt x="143" y="388"/>
                </a:cubicBezTo>
                <a:cubicBezTo>
                  <a:pt x="167" y="388"/>
                  <a:pt x="191" y="388"/>
                  <a:pt x="215" y="364"/>
                </a:cubicBezTo>
                <a:lnTo>
                  <a:pt x="405" y="293"/>
                </a:lnTo>
                <a:cubicBezTo>
                  <a:pt x="477" y="269"/>
                  <a:pt x="524" y="174"/>
                  <a:pt x="501" y="102"/>
                </a:cubicBezTo>
                <a:cubicBezTo>
                  <a:pt x="461" y="44"/>
                  <a:pt x="406" y="1"/>
                  <a:pt x="34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" name="Google Shape;2820;p94">
            <a:extLst>
              <a:ext uri="{FF2B5EF4-FFF2-40B4-BE49-F238E27FC236}">
                <a16:creationId xmlns:a16="http://schemas.microsoft.com/office/drawing/2014/main" id="{57E0AF51-B6FC-41BD-911C-FDDBED10DCD6}"/>
              </a:ext>
            </a:extLst>
          </p:cNvPr>
          <p:cNvSpPr>
            <a:spLocks noGrp="1"/>
          </p:cNvSpPr>
          <p:nvPr/>
        </p:nvSpPr>
        <p:spPr>
          <a:xfrm>
            <a:off x="6097923" y="1873128"/>
            <a:ext cx="34876" cy="34287"/>
          </a:xfrm>
          <a:custGeom>
            <a:avLst/>
            <a:gdLst/>
            <a:ahLst/>
            <a:cxnLst/>
            <a:rect l="l" t="t" r="r" b="b"/>
            <a:pathLst>
              <a:path w="478" h="463">
                <a:moveTo>
                  <a:pt x="298" y="1"/>
                </a:moveTo>
                <a:cubicBezTo>
                  <a:pt x="258" y="1"/>
                  <a:pt x="218" y="19"/>
                  <a:pt x="191" y="58"/>
                </a:cubicBezTo>
                <a:lnTo>
                  <a:pt x="49" y="225"/>
                </a:lnTo>
                <a:cubicBezTo>
                  <a:pt x="1" y="296"/>
                  <a:pt x="25" y="391"/>
                  <a:pt x="96" y="439"/>
                </a:cubicBezTo>
                <a:cubicBezTo>
                  <a:pt x="120" y="463"/>
                  <a:pt x="144" y="463"/>
                  <a:pt x="168" y="463"/>
                </a:cubicBezTo>
                <a:cubicBezTo>
                  <a:pt x="215" y="463"/>
                  <a:pt x="263" y="439"/>
                  <a:pt x="287" y="415"/>
                </a:cubicBezTo>
                <a:lnTo>
                  <a:pt x="430" y="225"/>
                </a:lnTo>
                <a:cubicBezTo>
                  <a:pt x="477" y="177"/>
                  <a:pt x="453" y="82"/>
                  <a:pt x="382" y="34"/>
                </a:cubicBezTo>
                <a:cubicBezTo>
                  <a:pt x="361" y="13"/>
                  <a:pt x="330" y="1"/>
                  <a:pt x="29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" name="Google Shape;2821;p94">
            <a:extLst>
              <a:ext uri="{FF2B5EF4-FFF2-40B4-BE49-F238E27FC236}">
                <a16:creationId xmlns:a16="http://schemas.microsoft.com/office/drawing/2014/main" id="{57B8954A-C826-4A9B-B657-89922358B024}"/>
              </a:ext>
            </a:extLst>
          </p:cNvPr>
          <p:cNvSpPr>
            <a:spLocks noGrp="1"/>
          </p:cNvSpPr>
          <p:nvPr/>
        </p:nvSpPr>
        <p:spPr>
          <a:xfrm>
            <a:off x="6129223" y="1960292"/>
            <a:ext cx="38305" cy="24735"/>
          </a:xfrm>
          <a:custGeom>
            <a:avLst/>
            <a:gdLst/>
            <a:ahLst/>
            <a:cxnLst/>
            <a:rect l="l" t="t" r="r" b="b"/>
            <a:pathLst>
              <a:path w="525" h="334">
                <a:moveTo>
                  <a:pt x="191" y="0"/>
                </a:moveTo>
                <a:cubicBezTo>
                  <a:pt x="96" y="0"/>
                  <a:pt x="24" y="48"/>
                  <a:pt x="24" y="119"/>
                </a:cubicBezTo>
                <a:cubicBezTo>
                  <a:pt x="1" y="215"/>
                  <a:pt x="48" y="286"/>
                  <a:pt x="143" y="286"/>
                </a:cubicBezTo>
                <a:lnTo>
                  <a:pt x="358" y="334"/>
                </a:lnTo>
                <a:lnTo>
                  <a:pt x="382" y="334"/>
                </a:lnTo>
                <a:cubicBezTo>
                  <a:pt x="453" y="334"/>
                  <a:pt x="501" y="286"/>
                  <a:pt x="525" y="215"/>
                </a:cubicBezTo>
                <a:cubicBezTo>
                  <a:pt x="525" y="119"/>
                  <a:pt x="477" y="48"/>
                  <a:pt x="405" y="48"/>
                </a:cubicBezTo>
                <a:lnTo>
                  <a:pt x="191" y="0"/>
                </a:ln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7" name="Google Shape;2822;p94">
            <a:extLst>
              <a:ext uri="{FF2B5EF4-FFF2-40B4-BE49-F238E27FC236}">
                <a16:creationId xmlns:a16="http://schemas.microsoft.com/office/drawing/2014/main" id="{0E034DD0-4B55-4B91-A037-3246A0A29407}"/>
              </a:ext>
            </a:extLst>
          </p:cNvPr>
          <p:cNvSpPr>
            <a:spLocks noGrp="1"/>
          </p:cNvSpPr>
          <p:nvPr/>
        </p:nvSpPr>
        <p:spPr>
          <a:xfrm>
            <a:off x="5710488" y="1722647"/>
            <a:ext cx="738530" cy="731528"/>
          </a:xfrm>
          <a:custGeom>
            <a:avLst/>
            <a:gdLst/>
            <a:ahLst/>
            <a:cxnLst/>
            <a:rect l="l" t="t" r="r" b="b"/>
            <a:pathLst>
              <a:path w="10122" h="9878">
                <a:moveTo>
                  <a:pt x="4787" y="423"/>
                </a:moveTo>
                <a:lnTo>
                  <a:pt x="6168" y="994"/>
                </a:lnTo>
                <a:lnTo>
                  <a:pt x="5240" y="1376"/>
                </a:lnTo>
                <a:cubicBezTo>
                  <a:pt x="5233" y="1382"/>
                  <a:pt x="5226" y="1385"/>
                  <a:pt x="5219" y="1385"/>
                </a:cubicBezTo>
                <a:cubicBezTo>
                  <a:pt x="5202" y="1385"/>
                  <a:pt x="5185" y="1369"/>
                  <a:pt x="5168" y="1352"/>
                </a:cubicBezTo>
                <a:lnTo>
                  <a:pt x="4787" y="423"/>
                </a:lnTo>
                <a:close/>
                <a:moveTo>
                  <a:pt x="8216" y="2066"/>
                </a:moveTo>
                <a:cubicBezTo>
                  <a:pt x="8264" y="2066"/>
                  <a:pt x="8312" y="2090"/>
                  <a:pt x="8312" y="2138"/>
                </a:cubicBezTo>
                <a:lnTo>
                  <a:pt x="8312" y="2566"/>
                </a:lnTo>
                <a:cubicBezTo>
                  <a:pt x="8312" y="2614"/>
                  <a:pt x="8264" y="2661"/>
                  <a:pt x="8216" y="2661"/>
                </a:cubicBezTo>
                <a:lnTo>
                  <a:pt x="7407" y="2661"/>
                </a:lnTo>
                <a:lnTo>
                  <a:pt x="7168" y="2066"/>
                </a:lnTo>
                <a:close/>
                <a:moveTo>
                  <a:pt x="8788" y="1280"/>
                </a:moveTo>
                <a:cubicBezTo>
                  <a:pt x="8931" y="1280"/>
                  <a:pt x="9050" y="1399"/>
                  <a:pt x="9050" y="1542"/>
                </a:cubicBezTo>
                <a:lnTo>
                  <a:pt x="9050" y="3924"/>
                </a:lnTo>
                <a:lnTo>
                  <a:pt x="7954" y="3924"/>
                </a:lnTo>
                <a:lnTo>
                  <a:pt x="7550" y="2947"/>
                </a:lnTo>
                <a:lnTo>
                  <a:pt x="8216" y="2947"/>
                </a:lnTo>
                <a:cubicBezTo>
                  <a:pt x="8431" y="2947"/>
                  <a:pt x="8597" y="2781"/>
                  <a:pt x="8597" y="2566"/>
                </a:cubicBezTo>
                <a:lnTo>
                  <a:pt x="8597" y="2138"/>
                </a:lnTo>
                <a:cubicBezTo>
                  <a:pt x="8597" y="1923"/>
                  <a:pt x="8431" y="1757"/>
                  <a:pt x="8216" y="1757"/>
                </a:cubicBezTo>
                <a:lnTo>
                  <a:pt x="7049" y="1757"/>
                </a:lnTo>
                <a:lnTo>
                  <a:pt x="6835" y="1280"/>
                </a:lnTo>
                <a:close/>
                <a:moveTo>
                  <a:pt x="4430" y="352"/>
                </a:moveTo>
                <a:lnTo>
                  <a:pt x="4906" y="1471"/>
                </a:lnTo>
                <a:cubicBezTo>
                  <a:pt x="4954" y="1614"/>
                  <a:pt x="5073" y="1685"/>
                  <a:pt x="5216" y="1685"/>
                </a:cubicBezTo>
                <a:cubicBezTo>
                  <a:pt x="5263" y="1685"/>
                  <a:pt x="5311" y="1685"/>
                  <a:pt x="5359" y="1661"/>
                </a:cubicBezTo>
                <a:lnTo>
                  <a:pt x="6478" y="1185"/>
                </a:lnTo>
                <a:lnTo>
                  <a:pt x="7621" y="3947"/>
                </a:lnTo>
                <a:lnTo>
                  <a:pt x="6907" y="3947"/>
                </a:lnTo>
                <a:cubicBezTo>
                  <a:pt x="6835" y="3947"/>
                  <a:pt x="6764" y="3995"/>
                  <a:pt x="6764" y="4090"/>
                </a:cubicBezTo>
                <a:cubicBezTo>
                  <a:pt x="6764" y="4162"/>
                  <a:pt x="6835" y="4233"/>
                  <a:pt x="6907" y="4233"/>
                </a:cubicBezTo>
                <a:lnTo>
                  <a:pt x="9574" y="4233"/>
                </a:lnTo>
                <a:cubicBezTo>
                  <a:pt x="9717" y="4233"/>
                  <a:pt x="9812" y="4352"/>
                  <a:pt x="9812" y="4471"/>
                </a:cubicBezTo>
                <a:lnTo>
                  <a:pt x="9812" y="8972"/>
                </a:lnTo>
                <a:cubicBezTo>
                  <a:pt x="9812" y="9330"/>
                  <a:pt x="9550" y="9591"/>
                  <a:pt x="9193" y="9591"/>
                </a:cubicBezTo>
                <a:lnTo>
                  <a:pt x="1596" y="9591"/>
                </a:lnTo>
                <a:cubicBezTo>
                  <a:pt x="1739" y="9425"/>
                  <a:pt x="1834" y="9210"/>
                  <a:pt x="1834" y="8972"/>
                </a:cubicBezTo>
                <a:lnTo>
                  <a:pt x="1834" y="7353"/>
                </a:lnTo>
                <a:cubicBezTo>
                  <a:pt x="1834" y="7281"/>
                  <a:pt x="1763" y="7210"/>
                  <a:pt x="1667" y="7210"/>
                </a:cubicBezTo>
                <a:cubicBezTo>
                  <a:pt x="1596" y="7210"/>
                  <a:pt x="1524" y="7281"/>
                  <a:pt x="1524" y="7353"/>
                </a:cubicBezTo>
                <a:lnTo>
                  <a:pt x="1524" y="8972"/>
                </a:lnTo>
                <a:cubicBezTo>
                  <a:pt x="1524" y="9330"/>
                  <a:pt x="1262" y="9591"/>
                  <a:pt x="905" y="9591"/>
                </a:cubicBezTo>
                <a:cubicBezTo>
                  <a:pt x="572" y="9591"/>
                  <a:pt x="286" y="9330"/>
                  <a:pt x="286" y="8972"/>
                </a:cubicBezTo>
                <a:lnTo>
                  <a:pt x="286" y="2590"/>
                </a:lnTo>
                <a:cubicBezTo>
                  <a:pt x="286" y="2447"/>
                  <a:pt x="405" y="2328"/>
                  <a:pt x="548" y="2328"/>
                </a:cubicBezTo>
                <a:lnTo>
                  <a:pt x="834" y="2328"/>
                </a:lnTo>
                <a:lnTo>
                  <a:pt x="1120" y="3066"/>
                </a:lnTo>
                <a:cubicBezTo>
                  <a:pt x="1155" y="3120"/>
                  <a:pt x="1204" y="3147"/>
                  <a:pt x="1257" y="3147"/>
                </a:cubicBezTo>
                <a:cubicBezTo>
                  <a:pt x="1274" y="3147"/>
                  <a:pt x="1292" y="3144"/>
                  <a:pt x="1310" y="3138"/>
                </a:cubicBezTo>
                <a:cubicBezTo>
                  <a:pt x="1382" y="3114"/>
                  <a:pt x="1429" y="3019"/>
                  <a:pt x="1405" y="2947"/>
                </a:cubicBezTo>
                <a:lnTo>
                  <a:pt x="953" y="1876"/>
                </a:lnTo>
                <a:cubicBezTo>
                  <a:pt x="929" y="1852"/>
                  <a:pt x="953" y="1804"/>
                  <a:pt x="977" y="1804"/>
                </a:cubicBezTo>
                <a:lnTo>
                  <a:pt x="4430" y="352"/>
                </a:lnTo>
                <a:close/>
                <a:moveTo>
                  <a:pt x="4513" y="0"/>
                </a:moveTo>
                <a:cubicBezTo>
                  <a:pt x="4495" y="0"/>
                  <a:pt x="4477" y="6"/>
                  <a:pt x="4454" y="18"/>
                </a:cubicBezTo>
                <a:lnTo>
                  <a:pt x="858" y="1518"/>
                </a:lnTo>
                <a:cubicBezTo>
                  <a:pt x="691" y="1590"/>
                  <a:pt x="596" y="1804"/>
                  <a:pt x="667" y="1971"/>
                </a:cubicBezTo>
                <a:lnTo>
                  <a:pt x="691" y="2042"/>
                </a:lnTo>
                <a:lnTo>
                  <a:pt x="548" y="2042"/>
                </a:lnTo>
                <a:cubicBezTo>
                  <a:pt x="238" y="2042"/>
                  <a:pt x="0" y="2280"/>
                  <a:pt x="0" y="2590"/>
                </a:cubicBezTo>
                <a:lnTo>
                  <a:pt x="0" y="8972"/>
                </a:lnTo>
                <a:cubicBezTo>
                  <a:pt x="0" y="9472"/>
                  <a:pt x="405" y="9877"/>
                  <a:pt x="905" y="9877"/>
                </a:cubicBezTo>
                <a:lnTo>
                  <a:pt x="9193" y="9877"/>
                </a:lnTo>
                <a:cubicBezTo>
                  <a:pt x="9717" y="9877"/>
                  <a:pt x="10121" y="9472"/>
                  <a:pt x="10121" y="8972"/>
                </a:cubicBezTo>
                <a:lnTo>
                  <a:pt x="10121" y="4471"/>
                </a:lnTo>
                <a:cubicBezTo>
                  <a:pt x="10121" y="4162"/>
                  <a:pt x="9860" y="3924"/>
                  <a:pt x="9574" y="3924"/>
                </a:cubicBezTo>
                <a:lnTo>
                  <a:pt x="9336" y="3924"/>
                </a:lnTo>
                <a:lnTo>
                  <a:pt x="9336" y="1542"/>
                </a:lnTo>
                <a:cubicBezTo>
                  <a:pt x="9336" y="1233"/>
                  <a:pt x="9097" y="994"/>
                  <a:pt x="8788" y="994"/>
                </a:cubicBezTo>
                <a:lnTo>
                  <a:pt x="6716" y="994"/>
                </a:lnTo>
                <a:lnTo>
                  <a:pt x="6692" y="923"/>
                </a:lnTo>
                <a:cubicBezTo>
                  <a:pt x="6668" y="899"/>
                  <a:pt x="6645" y="852"/>
                  <a:pt x="6621" y="852"/>
                </a:cubicBezTo>
                <a:lnTo>
                  <a:pt x="4573" y="18"/>
                </a:lnTo>
                <a:cubicBezTo>
                  <a:pt x="4549" y="6"/>
                  <a:pt x="4531" y="0"/>
                  <a:pt x="451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" name="Google Shape;2823;p94">
            <a:extLst>
              <a:ext uri="{FF2B5EF4-FFF2-40B4-BE49-F238E27FC236}">
                <a16:creationId xmlns:a16="http://schemas.microsoft.com/office/drawing/2014/main" id="{06B94662-6FE6-4CF5-B934-EE5CBA83D325}"/>
              </a:ext>
            </a:extLst>
          </p:cNvPr>
          <p:cNvSpPr>
            <a:spLocks noGrp="1"/>
          </p:cNvSpPr>
          <p:nvPr/>
        </p:nvSpPr>
        <p:spPr>
          <a:xfrm>
            <a:off x="5807750" y="1881793"/>
            <a:ext cx="370213" cy="348361"/>
          </a:xfrm>
          <a:custGeom>
            <a:avLst/>
            <a:gdLst/>
            <a:ahLst/>
            <a:cxnLst/>
            <a:rect l="l" t="t" r="r" b="b"/>
            <a:pathLst>
              <a:path w="5074" h="4704">
                <a:moveTo>
                  <a:pt x="2760" y="301"/>
                </a:moveTo>
                <a:cubicBezTo>
                  <a:pt x="2892" y="301"/>
                  <a:pt x="3021" y="325"/>
                  <a:pt x="3144" y="370"/>
                </a:cubicBezTo>
                <a:cubicBezTo>
                  <a:pt x="3430" y="489"/>
                  <a:pt x="3645" y="703"/>
                  <a:pt x="3740" y="965"/>
                </a:cubicBezTo>
                <a:cubicBezTo>
                  <a:pt x="3859" y="1227"/>
                  <a:pt x="3859" y="1513"/>
                  <a:pt x="3764" y="1775"/>
                </a:cubicBezTo>
                <a:lnTo>
                  <a:pt x="3287" y="1775"/>
                </a:lnTo>
                <a:cubicBezTo>
                  <a:pt x="3335" y="1679"/>
                  <a:pt x="3359" y="1560"/>
                  <a:pt x="3311" y="1441"/>
                </a:cubicBezTo>
                <a:cubicBezTo>
                  <a:pt x="3264" y="1346"/>
                  <a:pt x="3168" y="1275"/>
                  <a:pt x="3073" y="1227"/>
                </a:cubicBezTo>
                <a:cubicBezTo>
                  <a:pt x="3025" y="1203"/>
                  <a:pt x="2972" y="1191"/>
                  <a:pt x="2918" y="1191"/>
                </a:cubicBezTo>
                <a:cubicBezTo>
                  <a:pt x="2865" y="1191"/>
                  <a:pt x="2811" y="1203"/>
                  <a:pt x="2763" y="1227"/>
                </a:cubicBezTo>
                <a:lnTo>
                  <a:pt x="2621" y="1298"/>
                </a:lnTo>
                <a:cubicBezTo>
                  <a:pt x="2607" y="1303"/>
                  <a:pt x="2594" y="1305"/>
                  <a:pt x="2581" y="1305"/>
                </a:cubicBezTo>
                <a:cubicBezTo>
                  <a:pt x="2524" y="1305"/>
                  <a:pt x="2473" y="1266"/>
                  <a:pt x="2454" y="1227"/>
                </a:cubicBezTo>
                <a:cubicBezTo>
                  <a:pt x="2430" y="1155"/>
                  <a:pt x="2478" y="1108"/>
                  <a:pt x="2525" y="1084"/>
                </a:cubicBezTo>
                <a:lnTo>
                  <a:pt x="2668" y="1013"/>
                </a:lnTo>
                <a:cubicBezTo>
                  <a:pt x="2692" y="1001"/>
                  <a:pt x="2710" y="995"/>
                  <a:pt x="2728" y="995"/>
                </a:cubicBezTo>
                <a:cubicBezTo>
                  <a:pt x="2746" y="995"/>
                  <a:pt x="2763" y="1001"/>
                  <a:pt x="2787" y="1013"/>
                </a:cubicBezTo>
                <a:cubicBezTo>
                  <a:pt x="2815" y="1031"/>
                  <a:pt x="2842" y="1039"/>
                  <a:pt x="2868" y="1039"/>
                </a:cubicBezTo>
                <a:cubicBezTo>
                  <a:pt x="2910" y="1039"/>
                  <a:pt x="2948" y="1018"/>
                  <a:pt x="2978" y="989"/>
                </a:cubicBezTo>
                <a:cubicBezTo>
                  <a:pt x="3025" y="917"/>
                  <a:pt x="3002" y="822"/>
                  <a:pt x="2954" y="774"/>
                </a:cubicBezTo>
                <a:cubicBezTo>
                  <a:pt x="2892" y="728"/>
                  <a:pt x="2821" y="702"/>
                  <a:pt x="2746" y="702"/>
                </a:cubicBezTo>
                <a:cubicBezTo>
                  <a:pt x="2705" y="702"/>
                  <a:pt x="2663" y="710"/>
                  <a:pt x="2621" y="727"/>
                </a:cubicBezTo>
                <a:lnTo>
                  <a:pt x="2597" y="679"/>
                </a:lnTo>
                <a:cubicBezTo>
                  <a:pt x="2577" y="620"/>
                  <a:pt x="2509" y="578"/>
                  <a:pt x="2446" y="578"/>
                </a:cubicBezTo>
                <a:cubicBezTo>
                  <a:pt x="2432" y="578"/>
                  <a:pt x="2419" y="580"/>
                  <a:pt x="2406" y="584"/>
                </a:cubicBezTo>
                <a:cubicBezTo>
                  <a:pt x="2335" y="632"/>
                  <a:pt x="2311" y="703"/>
                  <a:pt x="2335" y="774"/>
                </a:cubicBezTo>
                <a:lnTo>
                  <a:pt x="2359" y="822"/>
                </a:lnTo>
                <a:cubicBezTo>
                  <a:pt x="2192" y="941"/>
                  <a:pt x="2120" y="1155"/>
                  <a:pt x="2192" y="1346"/>
                </a:cubicBezTo>
                <a:cubicBezTo>
                  <a:pt x="2264" y="1490"/>
                  <a:pt x="2418" y="1594"/>
                  <a:pt x="2582" y="1594"/>
                </a:cubicBezTo>
                <a:cubicBezTo>
                  <a:pt x="2635" y="1594"/>
                  <a:pt x="2688" y="1583"/>
                  <a:pt x="2740" y="1560"/>
                </a:cubicBezTo>
                <a:lnTo>
                  <a:pt x="2882" y="1489"/>
                </a:lnTo>
                <a:lnTo>
                  <a:pt x="2978" y="1489"/>
                </a:lnTo>
                <a:cubicBezTo>
                  <a:pt x="3002" y="1513"/>
                  <a:pt x="3025" y="1537"/>
                  <a:pt x="3025" y="1560"/>
                </a:cubicBezTo>
                <a:cubicBezTo>
                  <a:pt x="3049" y="1608"/>
                  <a:pt x="3025" y="1679"/>
                  <a:pt x="2978" y="1703"/>
                </a:cubicBezTo>
                <a:lnTo>
                  <a:pt x="2811" y="1775"/>
                </a:lnTo>
                <a:lnTo>
                  <a:pt x="2763" y="1775"/>
                </a:lnTo>
                <a:cubicBezTo>
                  <a:pt x="2740" y="1775"/>
                  <a:pt x="2716" y="1775"/>
                  <a:pt x="2692" y="1751"/>
                </a:cubicBezTo>
                <a:cubicBezTo>
                  <a:pt x="2668" y="1715"/>
                  <a:pt x="2632" y="1697"/>
                  <a:pt x="2594" y="1697"/>
                </a:cubicBezTo>
                <a:cubicBezTo>
                  <a:pt x="2555" y="1697"/>
                  <a:pt x="2513" y="1715"/>
                  <a:pt x="2478" y="1751"/>
                </a:cubicBezTo>
                <a:cubicBezTo>
                  <a:pt x="2478" y="1751"/>
                  <a:pt x="2478" y="1775"/>
                  <a:pt x="2454" y="1775"/>
                </a:cubicBezTo>
                <a:lnTo>
                  <a:pt x="1739" y="1775"/>
                </a:lnTo>
                <a:cubicBezTo>
                  <a:pt x="1620" y="1513"/>
                  <a:pt x="1620" y="1227"/>
                  <a:pt x="1739" y="965"/>
                </a:cubicBezTo>
                <a:cubicBezTo>
                  <a:pt x="1835" y="703"/>
                  <a:pt x="2049" y="489"/>
                  <a:pt x="2311" y="393"/>
                </a:cubicBezTo>
                <a:cubicBezTo>
                  <a:pt x="2462" y="331"/>
                  <a:pt x="2613" y="301"/>
                  <a:pt x="2760" y="301"/>
                </a:cubicBezTo>
                <a:close/>
                <a:moveTo>
                  <a:pt x="2740" y="0"/>
                </a:moveTo>
                <a:cubicBezTo>
                  <a:pt x="2561" y="0"/>
                  <a:pt x="2382" y="36"/>
                  <a:pt x="2216" y="108"/>
                </a:cubicBezTo>
                <a:cubicBezTo>
                  <a:pt x="1858" y="251"/>
                  <a:pt x="1596" y="512"/>
                  <a:pt x="1454" y="846"/>
                </a:cubicBezTo>
                <a:cubicBezTo>
                  <a:pt x="1335" y="1155"/>
                  <a:pt x="1311" y="1489"/>
                  <a:pt x="1406" y="1775"/>
                </a:cubicBezTo>
                <a:lnTo>
                  <a:pt x="739" y="1775"/>
                </a:lnTo>
                <a:cubicBezTo>
                  <a:pt x="644" y="1775"/>
                  <a:pt x="572" y="1798"/>
                  <a:pt x="501" y="1822"/>
                </a:cubicBezTo>
                <a:lnTo>
                  <a:pt x="311" y="1394"/>
                </a:lnTo>
                <a:cubicBezTo>
                  <a:pt x="293" y="1342"/>
                  <a:pt x="239" y="1303"/>
                  <a:pt x="183" y="1303"/>
                </a:cubicBezTo>
                <a:cubicBezTo>
                  <a:pt x="162" y="1303"/>
                  <a:pt x="140" y="1309"/>
                  <a:pt x="120" y="1322"/>
                </a:cubicBezTo>
                <a:cubicBezTo>
                  <a:pt x="49" y="1346"/>
                  <a:pt x="1" y="1441"/>
                  <a:pt x="49" y="1513"/>
                </a:cubicBezTo>
                <a:lnTo>
                  <a:pt x="263" y="2037"/>
                </a:lnTo>
                <a:cubicBezTo>
                  <a:pt x="215" y="2132"/>
                  <a:pt x="191" y="2227"/>
                  <a:pt x="191" y="2322"/>
                </a:cubicBezTo>
                <a:lnTo>
                  <a:pt x="191" y="4537"/>
                </a:lnTo>
                <a:cubicBezTo>
                  <a:pt x="191" y="4632"/>
                  <a:pt x="263" y="4704"/>
                  <a:pt x="334" y="4704"/>
                </a:cubicBezTo>
                <a:cubicBezTo>
                  <a:pt x="430" y="4704"/>
                  <a:pt x="501" y="4632"/>
                  <a:pt x="501" y="4537"/>
                </a:cubicBezTo>
                <a:lnTo>
                  <a:pt x="501" y="2322"/>
                </a:lnTo>
                <a:cubicBezTo>
                  <a:pt x="501" y="2179"/>
                  <a:pt x="596" y="2084"/>
                  <a:pt x="739" y="2084"/>
                </a:cubicBezTo>
                <a:lnTo>
                  <a:pt x="4907" y="2084"/>
                </a:lnTo>
                <a:cubicBezTo>
                  <a:pt x="5002" y="2084"/>
                  <a:pt x="5073" y="2013"/>
                  <a:pt x="5073" y="1918"/>
                </a:cubicBezTo>
                <a:cubicBezTo>
                  <a:pt x="5073" y="1846"/>
                  <a:pt x="5002" y="1775"/>
                  <a:pt x="4907" y="1775"/>
                </a:cubicBezTo>
                <a:lnTo>
                  <a:pt x="4073" y="1775"/>
                </a:lnTo>
                <a:cubicBezTo>
                  <a:pt x="4168" y="1465"/>
                  <a:pt x="4145" y="1155"/>
                  <a:pt x="4026" y="846"/>
                </a:cubicBezTo>
                <a:cubicBezTo>
                  <a:pt x="3883" y="512"/>
                  <a:pt x="3597" y="251"/>
                  <a:pt x="3264" y="108"/>
                </a:cubicBezTo>
                <a:cubicBezTo>
                  <a:pt x="3097" y="36"/>
                  <a:pt x="2918" y="0"/>
                  <a:pt x="2740" y="0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9" name="Google Shape;2824;p94">
            <a:extLst>
              <a:ext uri="{FF2B5EF4-FFF2-40B4-BE49-F238E27FC236}">
                <a16:creationId xmlns:a16="http://schemas.microsoft.com/office/drawing/2014/main" id="{02B037F2-DC45-4341-8A79-CB3209AED39D}"/>
              </a:ext>
            </a:extLst>
          </p:cNvPr>
          <p:cNvSpPr>
            <a:spLocks noGrp="1"/>
          </p:cNvSpPr>
          <p:nvPr/>
        </p:nvSpPr>
        <p:spPr>
          <a:xfrm>
            <a:off x="5823435" y="1838099"/>
            <a:ext cx="102586" cy="55245"/>
          </a:xfrm>
          <a:custGeom>
            <a:avLst/>
            <a:gdLst/>
            <a:ahLst/>
            <a:cxnLst/>
            <a:rect l="l" t="t" r="r" b="b"/>
            <a:pathLst>
              <a:path w="1406" h="746">
                <a:moveTo>
                  <a:pt x="1207" y="1"/>
                </a:moveTo>
                <a:cubicBezTo>
                  <a:pt x="1193" y="1"/>
                  <a:pt x="1180" y="3"/>
                  <a:pt x="1167" y="7"/>
                </a:cubicBezTo>
                <a:lnTo>
                  <a:pt x="119" y="460"/>
                </a:lnTo>
                <a:cubicBezTo>
                  <a:pt x="48" y="483"/>
                  <a:pt x="0" y="579"/>
                  <a:pt x="24" y="650"/>
                </a:cubicBezTo>
                <a:cubicBezTo>
                  <a:pt x="48" y="721"/>
                  <a:pt x="119" y="745"/>
                  <a:pt x="167" y="745"/>
                </a:cubicBezTo>
                <a:lnTo>
                  <a:pt x="215" y="745"/>
                </a:lnTo>
                <a:lnTo>
                  <a:pt x="1286" y="293"/>
                </a:lnTo>
                <a:cubicBezTo>
                  <a:pt x="1358" y="269"/>
                  <a:pt x="1405" y="174"/>
                  <a:pt x="1358" y="102"/>
                </a:cubicBezTo>
                <a:cubicBezTo>
                  <a:pt x="1338" y="44"/>
                  <a:pt x="1270" y="1"/>
                  <a:pt x="120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" name="Google Shape;2825;p94">
            <a:extLst>
              <a:ext uri="{FF2B5EF4-FFF2-40B4-BE49-F238E27FC236}">
                <a16:creationId xmlns:a16="http://schemas.microsoft.com/office/drawing/2014/main" id="{C50B4741-907E-42DE-BA0B-3176B42ED322}"/>
              </a:ext>
            </a:extLst>
          </p:cNvPr>
          <p:cNvSpPr>
            <a:spLocks noGrp="1"/>
          </p:cNvSpPr>
          <p:nvPr/>
        </p:nvSpPr>
        <p:spPr>
          <a:xfrm>
            <a:off x="5839050" y="1891866"/>
            <a:ext cx="55670" cy="34955"/>
          </a:xfrm>
          <a:custGeom>
            <a:avLst/>
            <a:gdLst/>
            <a:ahLst/>
            <a:cxnLst/>
            <a:rect l="l" t="t" r="r" b="b"/>
            <a:pathLst>
              <a:path w="763" h="472">
                <a:moveTo>
                  <a:pt x="599" y="0"/>
                </a:moveTo>
                <a:cubicBezTo>
                  <a:pt x="576" y="0"/>
                  <a:pt x="551" y="6"/>
                  <a:pt x="525" y="19"/>
                </a:cubicBezTo>
                <a:lnTo>
                  <a:pt x="96" y="186"/>
                </a:lnTo>
                <a:cubicBezTo>
                  <a:pt x="24" y="234"/>
                  <a:pt x="1" y="305"/>
                  <a:pt x="24" y="376"/>
                </a:cubicBezTo>
                <a:cubicBezTo>
                  <a:pt x="48" y="448"/>
                  <a:pt x="96" y="472"/>
                  <a:pt x="167" y="472"/>
                </a:cubicBezTo>
                <a:lnTo>
                  <a:pt x="215" y="472"/>
                </a:lnTo>
                <a:lnTo>
                  <a:pt x="644" y="281"/>
                </a:lnTo>
                <a:cubicBezTo>
                  <a:pt x="715" y="257"/>
                  <a:pt x="763" y="162"/>
                  <a:pt x="739" y="91"/>
                </a:cubicBezTo>
                <a:cubicBezTo>
                  <a:pt x="705" y="39"/>
                  <a:pt x="658" y="0"/>
                  <a:pt x="599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" name="Google Shape;2826;p94">
            <a:extLst>
              <a:ext uri="{FF2B5EF4-FFF2-40B4-BE49-F238E27FC236}">
                <a16:creationId xmlns:a16="http://schemas.microsoft.com/office/drawing/2014/main" id="{36AB534A-DCD7-4445-B575-A5862273CEB8}"/>
              </a:ext>
            </a:extLst>
          </p:cNvPr>
          <p:cNvSpPr>
            <a:spLocks noGrp="1"/>
          </p:cNvSpPr>
          <p:nvPr/>
        </p:nvSpPr>
        <p:spPr>
          <a:xfrm>
            <a:off x="5889467" y="2335907"/>
            <a:ext cx="76537" cy="21254"/>
          </a:xfrm>
          <a:custGeom>
            <a:avLst/>
            <a:gdLst/>
            <a:ahLst/>
            <a:cxnLst/>
            <a:rect l="l" t="t" r="r" b="b"/>
            <a:pathLst>
              <a:path w="1049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6"/>
                  <a:pt x="143" y="286"/>
                </a:cubicBezTo>
                <a:lnTo>
                  <a:pt x="905" y="286"/>
                </a:lnTo>
                <a:cubicBezTo>
                  <a:pt x="977" y="286"/>
                  <a:pt x="1048" y="215"/>
                  <a:pt x="1048" y="144"/>
                </a:cubicBezTo>
                <a:cubicBezTo>
                  <a:pt x="1048" y="48"/>
                  <a:pt x="977" y="1"/>
                  <a:pt x="90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2" name="Google Shape;2827;p94">
            <a:extLst>
              <a:ext uri="{FF2B5EF4-FFF2-40B4-BE49-F238E27FC236}">
                <a16:creationId xmlns:a16="http://schemas.microsoft.com/office/drawing/2014/main" id="{B5DD2815-B50D-4491-A04C-6F99AB0237E5}"/>
              </a:ext>
            </a:extLst>
          </p:cNvPr>
          <p:cNvSpPr>
            <a:spLocks noGrp="1"/>
          </p:cNvSpPr>
          <p:nvPr/>
        </p:nvSpPr>
        <p:spPr>
          <a:xfrm>
            <a:off x="5889467" y="2374713"/>
            <a:ext cx="177299" cy="23030"/>
          </a:xfrm>
          <a:custGeom>
            <a:avLst/>
            <a:gdLst/>
            <a:ahLst/>
            <a:cxnLst/>
            <a:rect l="l" t="t" r="r" b="b"/>
            <a:pathLst>
              <a:path w="2430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86" y="310"/>
                </a:lnTo>
                <a:cubicBezTo>
                  <a:pt x="2358" y="310"/>
                  <a:pt x="2429" y="239"/>
                  <a:pt x="2429" y="143"/>
                </a:cubicBezTo>
                <a:cubicBezTo>
                  <a:pt x="2429" y="72"/>
                  <a:pt x="2358" y="1"/>
                  <a:pt x="2286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8" name="Google Shape;2806;p94">
            <a:extLst>
              <a:ext uri="{FF2B5EF4-FFF2-40B4-BE49-F238E27FC236}">
                <a16:creationId xmlns:a16="http://schemas.microsoft.com/office/drawing/2014/main" id="{DF5EB72A-9714-47B1-AA38-FD4B1CF31477}"/>
              </a:ext>
            </a:extLst>
          </p:cNvPr>
          <p:cNvSpPr>
            <a:spLocks noGrp="1"/>
          </p:cNvSpPr>
          <p:nvPr/>
        </p:nvSpPr>
        <p:spPr>
          <a:xfrm>
            <a:off x="9757324" y="1749715"/>
            <a:ext cx="738604" cy="694944"/>
          </a:xfrm>
          <a:custGeom>
            <a:avLst/>
            <a:gdLst/>
            <a:ahLst/>
            <a:cxnLst/>
            <a:rect l="l" t="t" r="r" b="b"/>
            <a:pathLst>
              <a:path w="10123" h="9384">
                <a:moveTo>
                  <a:pt x="5073" y="8550"/>
                </a:moveTo>
                <a:cubicBezTo>
                  <a:pt x="5216" y="8550"/>
                  <a:pt x="5335" y="8669"/>
                  <a:pt x="5335" y="8812"/>
                </a:cubicBezTo>
                <a:cubicBezTo>
                  <a:pt x="5335" y="8954"/>
                  <a:pt x="5216" y="9097"/>
                  <a:pt x="5073" y="9097"/>
                </a:cubicBezTo>
                <a:cubicBezTo>
                  <a:pt x="4907" y="9097"/>
                  <a:pt x="4788" y="8954"/>
                  <a:pt x="4788" y="8812"/>
                </a:cubicBezTo>
                <a:cubicBezTo>
                  <a:pt x="4788" y="8669"/>
                  <a:pt x="4907" y="8550"/>
                  <a:pt x="5073" y="8550"/>
                </a:cubicBezTo>
                <a:close/>
                <a:moveTo>
                  <a:pt x="358" y="0"/>
                </a:moveTo>
                <a:cubicBezTo>
                  <a:pt x="168" y="0"/>
                  <a:pt x="1" y="167"/>
                  <a:pt x="1" y="357"/>
                </a:cubicBezTo>
                <a:lnTo>
                  <a:pt x="1" y="953"/>
                </a:lnTo>
                <a:cubicBezTo>
                  <a:pt x="1" y="1143"/>
                  <a:pt x="144" y="1286"/>
                  <a:pt x="334" y="1286"/>
                </a:cubicBezTo>
                <a:lnTo>
                  <a:pt x="334" y="5168"/>
                </a:lnTo>
                <a:cubicBezTo>
                  <a:pt x="334" y="5239"/>
                  <a:pt x="406" y="5311"/>
                  <a:pt x="477" y="5311"/>
                </a:cubicBezTo>
                <a:cubicBezTo>
                  <a:pt x="572" y="5311"/>
                  <a:pt x="644" y="5263"/>
                  <a:pt x="644" y="5168"/>
                </a:cubicBezTo>
                <a:lnTo>
                  <a:pt x="644" y="1286"/>
                </a:lnTo>
                <a:lnTo>
                  <a:pt x="7741" y="1286"/>
                </a:lnTo>
                <a:cubicBezTo>
                  <a:pt x="7812" y="1286"/>
                  <a:pt x="7884" y="1239"/>
                  <a:pt x="7884" y="1143"/>
                </a:cubicBezTo>
                <a:cubicBezTo>
                  <a:pt x="7884" y="1072"/>
                  <a:pt x="7812" y="1000"/>
                  <a:pt x="7741" y="1000"/>
                </a:cubicBezTo>
                <a:lnTo>
                  <a:pt x="358" y="1000"/>
                </a:lnTo>
                <a:cubicBezTo>
                  <a:pt x="334" y="1000"/>
                  <a:pt x="311" y="977"/>
                  <a:pt x="311" y="953"/>
                </a:cubicBezTo>
                <a:lnTo>
                  <a:pt x="311" y="357"/>
                </a:lnTo>
                <a:cubicBezTo>
                  <a:pt x="311" y="310"/>
                  <a:pt x="334" y="286"/>
                  <a:pt x="358" y="286"/>
                </a:cubicBezTo>
                <a:lnTo>
                  <a:pt x="9789" y="286"/>
                </a:lnTo>
                <a:cubicBezTo>
                  <a:pt x="9812" y="286"/>
                  <a:pt x="9836" y="334"/>
                  <a:pt x="9836" y="357"/>
                </a:cubicBezTo>
                <a:lnTo>
                  <a:pt x="9836" y="953"/>
                </a:lnTo>
                <a:cubicBezTo>
                  <a:pt x="9836" y="977"/>
                  <a:pt x="9812" y="1000"/>
                  <a:pt x="9789" y="1000"/>
                </a:cubicBezTo>
                <a:lnTo>
                  <a:pt x="8407" y="1000"/>
                </a:lnTo>
                <a:cubicBezTo>
                  <a:pt x="8312" y="1000"/>
                  <a:pt x="8241" y="1072"/>
                  <a:pt x="8241" y="1143"/>
                </a:cubicBezTo>
                <a:cubicBezTo>
                  <a:pt x="8241" y="1239"/>
                  <a:pt x="8312" y="1286"/>
                  <a:pt x="8407" y="1286"/>
                </a:cubicBezTo>
                <a:lnTo>
                  <a:pt x="9503" y="1286"/>
                </a:lnTo>
                <a:lnTo>
                  <a:pt x="9503" y="7335"/>
                </a:lnTo>
                <a:cubicBezTo>
                  <a:pt x="9503" y="7359"/>
                  <a:pt x="9479" y="7383"/>
                  <a:pt x="9455" y="7383"/>
                </a:cubicBezTo>
                <a:lnTo>
                  <a:pt x="692" y="7383"/>
                </a:lnTo>
                <a:cubicBezTo>
                  <a:pt x="668" y="7383"/>
                  <a:pt x="644" y="7359"/>
                  <a:pt x="644" y="7335"/>
                </a:cubicBezTo>
                <a:lnTo>
                  <a:pt x="644" y="5835"/>
                </a:lnTo>
                <a:cubicBezTo>
                  <a:pt x="644" y="5740"/>
                  <a:pt x="572" y="5692"/>
                  <a:pt x="477" y="5692"/>
                </a:cubicBezTo>
                <a:cubicBezTo>
                  <a:pt x="406" y="5692"/>
                  <a:pt x="334" y="5740"/>
                  <a:pt x="334" y="5835"/>
                </a:cubicBezTo>
                <a:lnTo>
                  <a:pt x="334" y="7335"/>
                </a:lnTo>
                <a:cubicBezTo>
                  <a:pt x="334" y="7526"/>
                  <a:pt x="501" y="7668"/>
                  <a:pt x="692" y="7668"/>
                </a:cubicBezTo>
                <a:lnTo>
                  <a:pt x="4907" y="7668"/>
                </a:lnTo>
                <a:lnTo>
                  <a:pt x="4907" y="8264"/>
                </a:lnTo>
                <a:cubicBezTo>
                  <a:pt x="4669" y="8335"/>
                  <a:pt x="4502" y="8550"/>
                  <a:pt x="4502" y="8812"/>
                </a:cubicBezTo>
                <a:cubicBezTo>
                  <a:pt x="4502" y="9121"/>
                  <a:pt x="4740" y="9383"/>
                  <a:pt x="5073" y="9383"/>
                </a:cubicBezTo>
                <a:cubicBezTo>
                  <a:pt x="5383" y="9383"/>
                  <a:pt x="5621" y="9121"/>
                  <a:pt x="5621" y="8812"/>
                </a:cubicBezTo>
                <a:cubicBezTo>
                  <a:pt x="5621" y="8550"/>
                  <a:pt x="5454" y="8335"/>
                  <a:pt x="5216" y="8264"/>
                </a:cubicBezTo>
                <a:lnTo>
                  <a:pt x="5216" y="7668"/>
                </a:lnTo>
                <a:lnTo>
                  <a:pt x="9431" y="7668"/>
                </a:lnTo>
                <a:cubicBezTo>
                  <a:pt x="9622" y="7668"/>
                  <a:pt x="9789" y="7526"/>
                  <a:pt x="9789" y="7335"/>
                </a:cubicBezTo>
                <a:lnTo>
                  <a:pt x="9789" y="1286"/>
                </a:lnTo>
                <a:cubicBezTo>
                  <a:pt x="9979" y="1286"/>
                  <a:pt x="10122" y="1143"/>
                  <a:pt x="10122" y="953"/>
                </a:cubicBezTo>
                <a:lnTo>
                  <a:pt x="10122" y="357"/>
                </a:lnTo>
                <a:cubicBezTo>
                  <a:pt x="10122" y="167"/>
                  <a:pt x="9979" y="0"/>
                  <a:pt x="9789" y="0"/>
                </a:cubicBezTo>
                <a:close/>
              </a:path>
            </a:pathLst>
          </a:custGeom>
          <a:solidFill>
            <a:srgbClr val="FD0C50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9" name="Google Shape;2807;p94">
            <a:extLst>
              <a:ext uri="{FF2B5EF4-FFF2-40B4-BE49-F238E27FC236}">
                <a16:creationId xmlns:a16="http://schemas.microsoft.com/office/drawing/2014/main" id="{03D26D72-6983-4EF2-8819-908F4C3C60E4}"/>
              </a:ext>
            </a:extLst>
          </p:cNvPr>
          <p:cNvSpPr>
            <a:spLocks noGrp="1"/>
          </p:cNvSpPr>
          <p:nvPr/>
        </p:nvSpPr>
        <p:spPr>
          <a:xfrm>
            <a:off x="10315126" y="2192350"/>
            <a:ext cx="99083" cy="21254"/>
          </a:xfrm>
          <a:custGeom>
            <a:avLst/>
            <a:gdLst/>
            <a:ahLst/>
            <a:cxnLst/>
            <a:rect l="l" t="t" r="r" b="b"/>
            <a:pathLst>
              <a:path w="1358" h="287">
                <a:moveTo>
                  <a:pt x="167" y="1"/>
                </a:moveTo>
                <a:cubicBezTo>
                  <a:pt x="72" y="1"/>
                  <a:pt x="0" y="72"/>
                  <a:pt x="0" y="144"/>
                </a:cubicBezTo>
                <a:cubicBezTo>
                  <a:pt x="0" y="239"/>
                  <a:pt x="72" y="286"/>
                  <a:pt x="167" y="286"/>
                </a:cubicBezTo>
                <a:lnTo>
                  <a:pt x="1191" y="286"/>
                </a:lnTo>
                <a:cubicBezTo>
                  <a:pt x="1286" y="286"/>
                  <a:pt x="1358" y="239"/>
                  <a:pt x="1358" y="144"/>
                </a:cubicBezTo>
                <a:cubicBezTo>
                  <a:pt x="1334" y="72"/>
                  <a:pt x="1286" y="1"/>
                  <a:pt x="1191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0" name="Google Shape;2808;p94">
            <a:extLst>
              <a:ext uri="{FF2B5EF4-FFF2-40B4-BE49-F238E27FC236}">
                <a16:creationId xmlns:a16="http://schemas.microsoft.com/office/drawing/2014/main" id="{F73A84BD-EA2A-4D95-A6B3-BA2F7CC3FA17}"/>
              </a:ext>
            </a:extLst>
          </p:cNvPr>
          <p:cNvSpPr>
            <a:spLocks noGrp="1"/>
          </p:cNvSpPr>
          <p:nvPr/>
        </p:nvSpPr>
        <p:spPr>
          <a:xfrm>
            <a:off x="10240413" y="2231154"/>
            <a:ext cx="173796" cy="23030"/>
          </a:xfrm>
          <a:custGeom>
            <a:avLst/>
            <a:gdLst/>
            <a:ahLst/>
            <a:cxnLst/>
            <a:rect l="l" t="t" r="r" b="b"/>
            <a:pathLst>
              <a:path w="2382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15" y="310"/>
                </a:lnTo>
                <a:cubicBezTo>
                  <a:pt x="2310" y="310"/>
                  <a:pt x="2382" y="239"/>
                  <a:pt x="2382" y="143"/>
                </a:cubicBezTo>
                <a:cubicBezTo>
                  <a:pt x="2382" y="72"/>
                  <a:pt x="2310" y="1"/>
                  <a:pt x="22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1" name="Google Shape;2809;p94">
            <a:extLst>
              <a:ext uri="{FF2B5EF4-FFF2-40B4-BE49-F238E27FC236}">
                <a16:creationId xmlns:a16="http://schemas.microsoft.com/office/drawing/2014/main" id="{790C7646-D6B3-419D-BDF3-09F1AA2B3135}"/>
              </a:ext>
            </a:extLst>
          </p:cNvPr>
          <p:cNvSpPr>
            <a:spLocks noGrp="1"/>
          </p:cNvSpPr>
          <p:nvPr/>
        </p:nvSpPr>
        <p:spPr>
          <a:xfrm>
            <a:off x="10240413" y="1903160"/>
            <a:ext cx="36555" cy="22957"/>
          </a:xfrm>
          <a:custGeom>
            <a:avLst/>
            <a:gdLst/>
            <a:ahLst/>
            <a:cxnLst/>
            <a:rect l="l" t="t" r="r" b="b"/>
            <a:pathLst>
              <a:path w="501" h="310">
                <a:moveTo>
                  <a:pt x="143" y="0"/>
                </a:moveTo>
                <a:cubicBezTo>
                  <a:pt x="72" y="0"/>
                  <a:pt x="0" y="72"/>
                  <a:pt x="0" y="143"/>
                </a:cubicBezTo>
                <a:cubicBezTo>
                  <a:pt x="0" y="238"/>
                  <a:pt x="72" y="310"/>
                  <a:pt x="143" y="310"/>
                </a:cubicBezTo>
                <a:lnTo>
                  <a:pt x="334" y="310"/>
                </a:lnTo>
                <a:cubicBezTo>
                  <a:pt x="429" y="310"/>
                  <a:pt x="500" y="238"/>
                  <a:pt x="500" y="143"/>
                </a:cubicBezTo>
                <a:cubicBezTo>
                  <a:pt x="500" y="72"/>
                  <a:pt x="429" y="0"/>
                  <a:pt x="334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2" name="Google Shape;2810;p94">
            <a:extLst>
              <a:ext uri="{FF2B5EF4-FFF2-40B4-BE49-F238E27FC236}">
                <a16:creationId xmlns:a16="http://schemas.microsoft.com/office/drawing/2014/main" id="{8FB3E07A-5D5E-4301-807A-B5A2E27785E1}"/>
              </a:ext>
            </a:extLst>
          </p:cNvPr>
          <p:cNvSpPr>
            <a:spLocks noGrp="1"/>
          </p:cNvSpPr>
          <p:nvPr/>
        </p:nvSpPr>
        <p:spPr>
          <a:xfrm>
            <a:off x="10294259" y="1903160"/>
            <a:ext cx="119950" cy="22957"/>
          </a:xfrm>
          <a:custGeom>
            <a:avLst/>
            <a:gdLst/>
            <a:ahLst/>
            <a:cxnLst/>
            <a:rect l="l" t="t" r="r" b="b"/>
            <a:pathLst>
              <a:path w="1644" h="310">
                <a:moveTo>
                  <a:pt x="143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8"/>
                  <a:pt x="72" y="310"/>
                  <a:pt x="143" y="310"/>
                </a:cubicBezTo>
                <a:lnTo>
                  <a:pt x="1477" y="310"/>
                </a:lnTo>
                <a:cubicBezTo>
                  <a:pt x="1572" y="310"/>
                  <a:pt x="1644" y="238"/>
                  <a:pt x="1644" y="143"/>
                </a:cubicBezTo>
                <a:cubicBezTo>
                  <a:pt x="1644" y="72"/>
                  <a:pt x="1572" y="0"/>
                  <a:pt x="1477" y="0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3" name="Google Shape;2811;p94">
            <a:extLst>
              <a:ext uri="{FF2B5EF4-FFF2-40B4-BE49-F238E27FC236}">
                <a16:creationId xmlns:a16="http://schemas.microsoft.com/office/drawing/2014/main" id="{EC9E0779-D157-4AE3-A4AE-1572197E3A61}"/>
              </a:ext>
            </a:extLst>
          </p:cNvPr>
          <p:cNvSpPr>
            <a:spLocks noGrp="1"/>
          </p:cNvSpPr>
          <p:nvPr/>
        </p:nvSpPr>
        <p:spPr>
          <a:xfrm>
            <a:off x="10240413" y="1943669"/>
            <a:ext cx="173796" cy="21254"/>
          </a:xfrm>
          <a:custGeom>
            <a:avLst/>
            <a:gdLst/>
            <a:ahLst/>
            <a:cxnLst/>
            <a:rect l="l" t="t" r="r" b="b"/>
            <a:pathLst>
              <a:path w="2382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2215" y="287"/>
                </a:lnTo>
                <a:cubicBezTo>
                  <a:pt x="2310" y="287"/>
                  <a:pt x="2382" y="215"/>
                  <a:pt x="2382" y="144"/>
                </a:cubicBezTo>
                <a:cubicBezTo>
                  <a:pt x="2382" y="48"/>
                  <a:pt x="2310" y="1"/>
                  <a:pt x="2215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4" name="Google Shape;2812;p94">
            <a:extLst>
              <a:ext uri="{FF2B5EF4-FFF2-40B4-BE49-F238E27FC236}">
                <a16:creationId xmlns:a16="http://schemas.microsoft.com/office/drawing/2014/main" id="{BCFE82E2-ACAF-448C-87DF-5498486058B1}"/>
              </a:ext>
            </a:extLst>
          </p:cNvPr>
          <p:cNvSpPr>
            <a:spLocks noGrp="1"/>
          </p:cNvSpPr>
          <p:nvPr/>
        </p:nvSpPr>
        <p:spPr>
          <a:xfrm>
            <a:off x="10240413" y="2008912"/>
            <a:ext cx="173796" cy="141225"/>
          </a:xfrm>
          <a:custGeom>
            <a:avLst/>
            <a:gdLst/>
            <a:ahLst/>
            <a:cxnLst/>
            <a:rect l="l" t="t" r="r" b="b"/>
            <a:pathLst>
              <a:path w="2382" h="1907">
                <a:moveTo>
                  <a:pt x="143" y="1"/>
                </a:moveTo>
                <a:cubicBezTo>
                  <a:pt x="48" y="1"/>
                  <a:pt x="0" y="49"/>
                  <a:pt x="0" y="144"/>
                </a:cubicBezTo>
                <a:lnTo>
                  <a:pt x="0" y="1763"/>
                </a:lnTo>
                <a:cubicBezTo>
                  <a:pt x="0" y="1835"/>
                  <a:pt x="72" y="1906"/>
                  <a:pt x="143" y="1906"/>
                </a:cubicBezTo>
                <a:lnTo>
                  <a:pt x="2215" y="1906"/>
                </a:lnTo>
                <a:cubicBezTo>
                  <a:pt x="2310" y="1906"/>
                  <a:pt x="2382" y="1835"/>
                  <a:pt x="2382" y="1763"/>
                </a:cubicBezTo>
                <a:cubicBezTo>
                  <a:pt x="2382" y="1668"/>
                  <a:pt x="2310" y="1597"/>
                  <a:pt x="2215" y="1597"/>
                </a:cubicBezTo>
                <a:lnTo>
                  <a:pt x="1858" y="1597"/>
                </a:lnTo>
                <a:lnTo>
                  <a:pt x="1858" y="311"/>
                </a:lnTo>
                <a:cubicBezTo>
                  <a:pt x="1858" y="239"/>
                  <a:pt x="1786" y="168"/>
                  <a:pt x="1715" y="168"/>
                </a:cubicBezTo>
                <a:cubicBezTo>
                  <a:pt x="1644" y="168"/>
                  <a:pt x="1572" y="239"/>
                  <a:pt x="1572" y="311"/>
                </a:cubicBezTo>
                <a:lnTo>
                  <a:pt x="1572" y="1597"/>
                </a:lnTo>
                <a:lnTo>
                  <a:pt x="1334" y="1597"/>
                </a:lnTo>
                <a:lnTo>
                  <a:pt x="1334" y="1120"/>
                </a:lnTo>
                <a:cubicBezTo>
                  <a:pt x="1334" y="1049"/>
                  <a:pt x="1263" y="977"/>
                  <a:pt x="1191" y="977"/>
                </a:cubicBezTo>
                <a:cubicBezTo>
                  <a:pt x="1096" y="977"/>
                  <a:pt x="1024" y="1049"/>
                  <a:pt x="1024" y="1120"/>
                </a:cubicBezTo>
                <a:lnTo>
                  <a:pt x="1024" y="1597"/>
                </a:lnTo>
                <a:lnTo>
                  <a:pt x="786" y="1597"/>
                </a:lnTo>
                <a:lnTo>
                  <a:pt x="786" y="763"/>
                </a:lnTo>
                <a:cubicBezTo>
                  <a:pt x="786" y="668"/>
                  <a:pt x="739" y="596"/>
                  <a:pt x="643" y="596"/>
                </a:cubicBezTo>
                <a:cubicBezTo>
                  <a:pt x="572" y="596"/>
                  <a:pt x="500" y="668"/>
                  <a:pt x="500" y="763"/>
                </a:cubicBezTo>
                <a:lnTo>
                  <a:pt x="500" y="1597"/>
                </a:lnTo>
                <a:lnTo>
                  <a:pt x="286" y="1597"/>
                </a:lnTo>
                <a:lnTo>
                  <a:pt x="286" y="144"/>
                </a:lnTo>
                <a:cubicBezTo>
                  <a:pt x="286" y="72"/>
                  <a:pt x="215" y="1"/>
                  <a:pt x="143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5" name="Google Shape;2813;p94">
            <a:extLst>
              <a:ext uri="{FF2B5EF4-FFF2-40B4-BE49-F238E27FC236}">
                <a16:creationId xmlns:a16="http://schemas.microsoft.com/office/drawing/2014/main" id="{FC69A224-7204-4F13-827A-8F6CFF13CA93}"/>
              </a:ext>
            </a:extLst>
          </p:cNvPr>
          <p:cNvSpPr>
            <a:spLocks noGrp="1"/>
          </p:cNvSpPr>
          <p:nvPr/>
        </p:nvSpPr>
        <p:spPr>
          <a:xfrm>
            <a:off x="9833790" y="1885460"/>
            <a:ext cx="364959" cy="370429"/>
          </a:xfrm>
          <a:custGeom>
            <a:avLst/>
            <a:gdLst/>
            <a:ahLst/>
            <a:cxnLst/>
            <a:rect l="l" t="t" r="r" b="b"/>
            <a:pathLst>
              <a:path w="5002" h="5002">
                <a:moveTo>
                  <a:pt x="2501" y="1215"/>
                </a:moveTo>
                <a:cubicBezTo>
                  <a:pt x="3216" y="1215"/>
                  <a:pt x="3811" y="1787"/>
                  <a:pt x="3811" y="2501"/>
                </a:cubicBezTo>
                <a:cubicBezTo>
                  <a:pt x="3811" y="3240"/>
                  <a:pt x="3216" y="3811"/>
                  <a:pt x="2501" y="3811"/>
                </a:cubicBezTo>
                <a:cubicBezTo>
                  <a:pt x="1787" y="3811"/>
                  <a:pt x="1215" y="3216"/>
                  <a:pt x="1215" y="2501"/>
                </a:cubicBezTo>
                <a:cubicBezTo>
                  <a:pt x="1215" y="1787"/>
                  <a:pt x="1787" y="1215"/>
                  <a:pt x="2501" y="1215"/>
                </a:cubicBezTo>
                <a:close/>
                <a:moveTo>
                  <a:pt x="4692" y="2668"/>
                </a:moveTo>
                <a:cubicBezTo>
                  <a:pt x="4668" y="3121"/>
                  <a:pt x="4502" y="3549"/>
                  <a:pt x="4216" y="3883"/>
                </a:cubicBezTo>
                <a:lnTo>
                  <a:pt x="3787" y="3454"/>
                </a:lnTo>
                <a:cubicBezTo>
                  <a:pt x="3954" y="3216"/>
                  <a:pt x="4073" y="2954"/>
                  <a:pt x="4097" y="2668"/>
                </a:cubicBezTo>
                <a:close/>
                <a:moveTo>
                  <a:pt x="2358" y="311"/>
                </a:moveTo>
                <a:lnTo>
                  <a:pt x="2358" y="930"/>
                </a:lnTo>
                <a:cubicBezTo>
                  <a:pt x="1549" y="1001"/>
                  <a:pt x="906" y="1692"/>
                  <a:pt x="906" y="2501"/>
                </a:cubicBezTo>
                <a:cubicBezTo>
                  <a:pt x="906" y="3383"/>
                  <a:pt x="1620" y="4097"/>
                  <a:pt x="2501" y="4097"/>
                </a:cubicBezTo>
                <a:cubicBezTo>
                  <a:pt x="2930" y="4097"/>
                  <a:pt x="3311" y="3954"/>
                  <a:pt x="3597" y="3668"/>
                </a:cubicBezTo>
                <a:cubicBezTo>
                  <a:pt x="3740" y="3811"/>
                  <a:pt x="3883" y="3954"/>
                  <a:pt x="4025" y="4097"/>
                </a:cubicBezTo>
                <a:cubicBezTo>
                  <a:pt x="3644" y="4478"/>
                  <a:pt x="3097" y="4716"/>
                  <a:pt x="2501" y="4716"/>
                </a:cubicBezTo>
                <a:cubicBezTo>
                  <a:pt x="1287" y="4716"/>
                  <a:pt x="310" y="3716"/>
                  <a:pt x="310" y="2501"/>
                </a:cubicBezTo>
                <a:cubicBezTo>
                  <a:pt x="310" y="1335"/>
                  <a:pt x="1215" y="382"/>
                  <a:pt x="2358" y="311"/>
                </a:cubicBezTo>
                <a:close/>
                <a:moveTo>
                  <a:pt x="2501" y="1"/>
                </a:moveTo>
                <a:cubicBezTo>
                  <a:pt x="1120" y="1"/>
                  <a:pt x="1" y="1144"/>
                  <a:pt x="1" y="2501"/>
                </a:cubicBezTo>
                <a:cubicBezTo>
                  <a:pt x="1" y="3883"/>
                  <a:pt x="1120" y="5002"/>
                  <a:pt x="2501" y="5002"/>
                </a:cubicBezTo>
                <a:cubicBezTo>
                  <a:pt x="3883" y="5002"/>
                  <a:pt x="5002" y="3883"/>
                  <a:pt x="5002" y="2501"/>
                </a:cubicBezTo>
                <a:cubicBezTo>
                  <a:pt x="5002" y="1978"/>
                  <a:pt x="4835" y="1477"/>
                  <a:pt x="4526" y="1049"/>
                </a:cubicBezTo>
                <a:cubicBezTo>
                  <a:pt x="4499" y="1009"/>
                  <a:pt x="4459" y="992"/>
                  <a:pt x="4415" y="992"/>
                </a:cubicBezTo>
                <a:cubicBezTo>
                  <a:pt x="4380" y="992"/>
                  <a:pt x="4343" y="1004"/>
                  <a:pt x="4311" y="1025"/>
                </a:cubicBezTo>
                <a:cubicBezTo>
                  <a:pt x="4264" y="1073"/>
                  <a:pt x="4240" y="1144"/>
                  <a:pt x="4287" y="1215"/>
                </a:cubicBezTo>
                <a:cubicBezTo>
                  <a:pt x="4526" y="1549"/>
                  <a:pt x="4668" y="1954"/>
                  <a:pt x="4692" y="2359"/>
                </a:cubicBezTo>
                <a:lnTo>
                  <a:pt x="4097" y="2359"/>
                </a:lnTo>
                <a:cubicBezTo>
                  <a:pt x="4025" y="1597"/>
                  <a:pt x="3406" y="1001"/>
                  <a:pt x="2644" y="930"/>
                </a:cubicBezTo>
                <a:lnTo>
                  <a:pt x="2644" y="311"/>
                </a:lnTo>
                <a:cubicBezTo>
                  <a:pt x="3097" y="334"/>
                  <a:pt x="3501" y="501"/>
                  <a:pt x="3859" y="787"/>
                </a:cubicBezTo>
                <a:cubicBezTo>
                  <a:pt x="3886" y="805"/>
                  <a:pt x="3917" y="813"/>
                  <a:pt x="3947" y="813"/>
                </a:cubicBezTo>
                <a:cubicBezTo>
                  <a:pt x="3996" y="813"/>
                  <a:pt x="4044" y="792"/>
                  <a:pt x="4073" y="763"/>
                </a:cubicBezTo>
                <a:cubicBezTo>
                  <a:pt x="4121" y="692"/>
                  <a:pt x="4121" y="596"/>
                  <a:pt x="4049" y="549"/>
                </a:cubicBezTo>
                <a:cubicBezTo>
                  <a:pt x="3597" y="191"/>
                  <a:pt x="3073" y="1"/>
                  <a:pt x="2501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6" name="Google Shape;2814;p94">
            <a:extLst>
              <a:ext uri="{FF2B5EF4-FFF2-40B4-BE49-F238E27FC236}">
                <a16:creationId xmlns:a16="http://schemas.microsoft.com/office/drawing/2014/main" id="{CC942708-1EED-4719-A7AB-15E25B610BA4}"/>
              </a:ext>
            </a:extLst>
          </p:cNvPr>
          <p:cNvSpPr>
            <a:spLocks noGrp="1"/>
          </p:cNvSpPr>
          <p:nvPr/>
        </p:nvSpPr>
        <p:spPr>
          <a:xfrm>
            <a:off x="9844225" y="2227156"/>
            <a:ext cx="52240" cy="37620"/>
          </a:xfrm>
          <a:custGeom>
            <a:avLst/>
            <a:gdLst/>
            <a:ahLst/>
            <a:cxnLst/>
            <a:rect l="l" t="t" r="r" b="b"/>
            <a:pathLst>
              <a:path w="716" h="508">
                <a:moveTo>
                  <a:pt x="167" y="1"/>
                </a:moveTo>
                <a:cubicBezTo>
                  <a:pt x="132" y="1"/>
                  <a:pt x="96" y="19"/>
                  <a:pt x="72" y="55"/>
                </a:cubicBezTo>
                <a:cubicBezTo>
                  <a:pt x="1" y="102"/>
                  <a:pt x="1" y="197"/>
                  <a:pt x="72" y="245"/>
                </a:cubicBezTo>
                <a:lnTo>
                  <a:pt x="263" y="459"/>
                </a:lnTo>
                <a:cubicBezTo>
                  <a:pt x="286" y="483"/>
                  <a:pt x="334" y="507"/>
                  <a:pt x="358" y="507"/>
                </a:cubicBezTo>
                <a:cubicBezTo>
                  <a:pt x="405" y="507"/>
                  <a:pt x="429" y="483"/>
                  <a:pt x="477" y="459"/>
                </a:cubicBezTo>
                <a:lnTo>
                  <a:pt x="667" y="245"/>
                </a:lnTo>
                <a:cubicBezTo>
                  <a:pt x="715" y="197"/>
                  <a:pt x="715" y="102"/>
                  <a:pt x="667" y="55"/>
                </a:cubicBezTo>
                <a:cubicBezTo>
                  <a:pt x="632" y="19"/>
                  <a:pt x="590" y="1"/>
                  <a:pt x="551" y="1"/>
                </a:cubicBezTo>
                <a:cubicBezTo>
                  <a:pt x="513" y="1"/>
                  <a:pt x="477" y="19"/>
                  <a:pt x="453" y="55"/>
                </a:cubicBezTo>
                <a:lnTo>
                  <a:pt x="358" y="150"/>
                </a:lnTo>
                <a:lnTo>
                  <a:pt x="263" y="55"/>
                </a:lnTo>
                <a:cubicBezTo>
                  <a:pt x="239" y="19"/>
                  <a:pt x="203" y="1"/>
                  <a:pt x="167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7" name="Google Shape;2815;p94">
            <a:extLst>
              <a:ext uri="{FF2B5EF4-FFF2-40B4-BE49-F238E27FC236}">
                <a16:creationId xmlns:a16="http://schemas.microsoft.com/office/drawing/2014/main" id="{75757593-004B-4B1D-8138-0CAB416ECD5D}"/>
              </a:ext>
            </a:extLst>
          </p:cNvPr>
          <p:cNvSpPr>
            <a:spLocks noGrp="1"/>
          </p:cNvSpPr>
          <p:nvPr/>
        </p:nvSpPr>
        <p:spPr>
          <a:xfrm>
            <a:off x="10037138" y="2075044"/>
            <a:ext cx="52169" cy="36287"/>
          </a:xfrm>
          <a:custGeom>
            <a:avLst/>
            <a:gdLst/>
            <a:ahLst/>
            <a:cxnLst/>
            <a:rect l="l" t="t" r="r" b="b"/>
            <a:pathLst>
              <a:path w="715" h="490">
                <a:moveTo>
                  <a:pt x="164" y="1"/>
                </a:moveTo>
                <a:cubicBezTo>
                  <a:pt x="125" y="1"/>
                  <a:pt x="83" y="13"/>
                  <a:pt x="48" y="37"/>
                </a:cubicBezTo>
                <a:cubicBezTo>
                  <a:pt x="0" y="84"/>
                  <a:pt x="0" y="180"/>
                  <a:pt x="48" y="251"/>
                </a:cubicBezTo>
                <a:lnTo>
                  <a:pt x="238" y="442"/>
                </a:lnTo>
                <a:cubicBezTo>
                  <a:pt x="286" y="465"/>
                  <a:pt x="310" y="489"/>
                  <a:pt x="357" y="489"/>
                </a:cubicBezTo>
                <a:cubicBezTo>
                  <a:pt x="381" y="489"/>
                  <a:pt x="429" y="465"/>
                  <a:pt x="453" y="442"/>
                </a:cubicBezTo>
                <a:lnTo>
                  <a:pt x="667" y="251"/>
                </a:lnTo>
                <a:cubicBezTo>
                  <a:pt x="714" y="180"/>
                  <a:pt x="714" y="84"/>
                  <a:pt x="667" y="37"/>
                </a:cubicBezTo>
                <a:cubicBezTo>
                  <a:pt x="631" y="13"/>
                  <a:pt x="589" y="1"/>
                  <a:pt x="551" y="1"/>
                </a:cubicBezTo>
                <a:cubicBezTo>
                  <a:pt x="512" y="1"/>
                  <a:pt x="476" y="13"/>
                  <a:pt x="453" y="37"/>
                </a:cubicBezTo>
                <a:lnTo>
                  <a:pt x="357" y="132"/>
                </a:lnTo>
                <a:lnTo>
                  <a:pt x="262" y="37"/>
                </a:lnTo>
                <a:cubicBezTo>
                  <a:pt x="238" y="13"/>
                  <a:pt x="202" y="1"/>
                  <a:pt x="164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08" name="Google Shape;2816;p94">
            <a:extLst>
              <a:ext uri="{FF2B5EF4-FFF2-40B4-BE49-F238E27FC236}">
                <a16:creationId xmlns:a16="http://schemas.microsoft.com/office/drawing/2014/main" id="{E064EA9E-2DFD-4EA3-B711-1609C3E46F7B}"/>
              </a:ext>
            </a:extLst>
          </p:cNvPr>
          <p:cNvSpPr>
            <a:spLocks noGrp="1"/>
          </p:cNvSpPr>
          <p:nvPr/>
        </p:nvSpPr>
        <p:spPr>
          <a:xfrm>
            <a:off x="10151762" y="1905752"/>
            <a:ext cx="52240" cy="36287"/>
          </a:xfrm>
          <a:custGeom>
            <a:avLst/>
            <a:gdLst/>
            <a:ahLst/>
            <a:cxnLst/>
            <a:rect l="l" t="t" r="r" b="b"/>
            <a:pathLst>
              <a:path w="716" h="490">
                <a:moveTo>
                  <a:pt x="168" y="1"/>
                </a:moveTo>
                <a:cubicBezTo>
                  <a:pt x="132" y="1"/>
                  <a:pt x="96" y="13"/>
                  <a:pt x="72" y="37"/>
                </a:cubicBezTo>
                <a:cubicBezTo>
                  <a:pt x="1" y="84"/>
                  <a:pt x="1" y="179"/>
                  <a:pt x="72" y="251"/>
                </a:cubicBezTo>
                <a:lnTo>
                  <a:pt x="263" y="441"/>
                </a:lnTo>
                <a:cubicBezTo>
                  <a:pt x="287" y="465"/>
                  <a:pt x="310" y="489"/>
                  <a:pt x="358" y="489"/>
                </a:cubicBezTo>
                <a:cubicBezTo>
                  <a:pt x="406" y="489"/>
                  <a:pt x="429" y="465"/>
                  <a:pt x="453" y="441"/>
                </a:cubicBezTo>
                <a:lnTo>
                  <a:pt x="668" y="251"/>
                </a:lnTo>
                <a:cubicBezTo>
                  <a:pt x="715" y="179"/>
                  <a:pt x="715" y="84"/>
                  <a:pt x="668" y="37"/>
                </a:cubicBezTo>
                <a:cubicBezTo>
                  <a:pt x="632" y="13"/>
                  <a:pt x="590" y="1"/>
                  <a:pt x="552" y="1"/>
                </a:cubicBezTo>
                <a:cubicBezTo>
                  <a:pt x="513" y="1"/>
                  <a:pt x="477" y="13"/>
                  <a:pt x="453" y="37"/>
                </a:cubicBezTo>
                <a:lnTo>
                  <a:pt x="358" y="132"/>
                </a:lnTo>
                <a:lnTo>
                  <a:pt x="263" y="37"/>
                </a:lnTo>
                <a:cubicBezTo>
                  <a:pt x="239" y="13"/>
                  <a:pt x="203" y="1"/>
                  <a:pt x="168" y="1"/>
                </a:cubicBezTo>
                <a:close/>
              </a:path>
            </a:pathLst>
          </a:custGeom>
          <a:solidFill>
            <a:srgbClr val="E4EAE9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>
            <a:spLocks noGrp="1"/>
          </p:cNvSpPr>
          <p:nvPr/>
        </p:nvSpPr>
        <p:spPr>
          <a:xfrm>
            <a:off x="9337010" y="1396603"/>
            <a:ext cx="1504594" cy="1401168"/>
          </a:xfrm>
          <a:prstGeom prst="round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>
            <a:normAutofit/>
          </a:bodyPr>
          <a:lstStyle/>
          <a:p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ПОЛЬЗА MVP ДЛЯ КАЖДОЙ РОЛИ</a:t>
            </a:r>
            <a:endParaRPr/>
          </a:p>
        </p:txBody>
      </p:sp>
      <p:cxnSp>
        <p:nvCxnSpPr>
          <p:cNvPr id="156" name="Google Shape;2799;p94"/>
          <p:cNvCxnSpPr/>
          <p:nvPr/>
        </p:nvCxnSpPr>
        <p:spPr>
          <a:xfrm flipV="1">
            <a:off x="6843165" y="2119165"/>
            <a:ext cx="2489934" cy="12489"/>
          </a:xfrm>
          <a:prstGeom prst="straightConnector1">
            <a:avLst/>
          </a:prstGeom>
          <a:ln w="12700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53620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>
            <a:spLocks noGrp="1"/>
          </p:cNvSpPr>
          <p:nvPr/>
        </p:nvSpPr>
        <p:spPr>
          <a:xfrm>
            <a:off x="346075" y="324562"/>
            <a:ext cx="3369714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>
            <a:spLocks noGrp="1"/>
          </p:cNvSpPr>
          <p:nvPr/>
        </p:nvSpPr>
        <p:spPr>
          <a:xfrm>
            <a:off x="5951744" y="1385870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>
            <a:spLocks noGrp="1"/>
          </p:cNvSpPr>
          <p:nvPr/>
        </p:nvSpPr>
        <p:spPr>
          <a:xfrm>
            <a:off x="5951744" y="2377094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>
            <a:spLocks noGrp="1"/>
          </p:cNvSpPr>
          <p:nvPr/>
        </p:nvSpPr>
        <p:spPr>
          <a:xfrm>
            <a:off x="5951744" y="3387765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>
            <a:spLocks noGrp="1"/>
          </p:cNvSpPr>
          <p:nvPr/>
        </p:nvSpPr>
        <p:spPr>
          <a:xfrm>
            <a:off x="5951744" y="4398436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>
            <a:spLocks noGrp="1"/>
          </p:cNvSpPr>
          <p:nvPr/>
        </p:nvSpPr>
        <p:spPr>
          <a:xfrm>
            <a:off x="5951744" y="5409107"/>
            <a:ext cx="5905293" cy="791668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>
            <a:spLocks noGrp="1"/>
          </p:cNvSpPr>
          <p:nvPr/>
        </p:nvSpPr>
        <p:spPr>
          <a:xfrm>
            <a:off x="346076" y="1366423"/>
            <a:ext cx="5389562" cy="4834352"/>
          </a:xfrm>
          <a:prstGeom prst="roundRect">
            <a:avLst>
              <a:gd name="adj" fmla="val 2919"/>
            </a:avLst>
          </a:prstGeom>
          <a:solidFill>
            <a:schemeClr val="bg1"/>
          </a:solidFill>
          <a:ln w="9525" cmpd="sng">
            <a:solidFill>
              <a:schemeClr val="accent5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3887" y="1732103"/>
            <a:ext cx="4734175" cy="4139307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 marL="285750" indent="-285750" algn="l">
              <a:buFont typeface="Arial" panose="020B0604020202020204" pitchFamily="34" charset="0"/>
              <a:buChar char="•"/>
              <a:defRPr sz="1275">
                <a:solidFill>
                  <a:srgbClr val="2A1732"/>
                </a:solidFill>
              </a:defRPr>
            </a:pPr>
            <a:r>
              <a:rPr sz="1600" dirty="0">
                <a:solidFill>
                  <a:srgbClr val="2A1732"/>
                </a:solidFill>
              </a:rPr>
              <a:t>В одной рабочей зоне диспетчер загружает заявки и инженеров, строит план, открывает маршруты на карте и проверяет фактическое исполнение.</a:t>
            </a:r>
            <a:endParaRPr sz="4400" b="1" dirty="0">
              <a:solidFill>
                <a:schemeClr val="tx1"/>
              </a:solidFill>
            </a:endParaRPr>
          </a:p>
          <a:p>
            <a:pPr marL="571500" indent="-571500" algn="l">
              <a:buFont typeface="Arial" panose="020B0604020202020204" pitchFamily="34" charset="0"/>
              <a:buChar char="•"/>
            </a:pPr>
            <a:endParaRPr sz="4400" b="1" dirty="0">
              <a:solidFill>
                <a:schemeClr val="tx1"/>
              </a:solidFill>
            </a:endParaRPr>
          </a:p>
          <a:p>
            <a:pPr marL="285750" indent="-285750" algn="l">
              <a:buFont typeface="Arial" panose="020B0604020202020204" pitchFamily="34" charset="0"/>
              <a:buChar char="•"/>
              <a:defRPr sz="1275">
                <a:solidFill>
                  <a:srgbClr val="2A1732"/>
                </a:solidFill>
              </a:defRPr>
            </a:pPr>
            <a:r>
              <a:rPr sz="1600" dirty="0">
                <a:solidFill>
                  <a:srgbClr val="2A1732"/>
                </a:solidFill>
              </a:rPr>
              <a:t>При ручном назначении сервис показывает блокирующие ограничения, пересечения и требование обоснования для исключения.</a:t>
            </a:r>
            <a:endParaRPr sz="4400" b="1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6731530" y="1642310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3C1053"/>
                </a:solidFill>
              </a:defRPr>
            </a:pPr>
            <a:r>
              <a:rPr lang="ru-RU" sz="1600" b="1" dirty="0">
                <a:solidFill>
                  <a:srgbClr val="3C1053"/>
                </a:solidFill>
              </a:rPr>
              <a:t>Настройка смены и загрузка данных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6731530" y="2623378"/>
            <a:ext cx="5460470" cy="372539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3C1053"/>
                </a:solidFill>
              </a:defRPr>
            </a:pPr>
            <a:r>
              <a:rPr lang="ru-RU" sz="1600" b="1" dirty="0">
                <a:solidFill>
                  <a:srgbClr val="3C1053"/>
                </a:solidFill>
              </a:rPr>
              <a:t>Маршруты и карточки заявок на карте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6731530" y="3506641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3C1053"/>
                </a:solidFill>
              </a:defRPr>
            </a:pPr>
            <a:r>
              <a:rPr lang="ru-RU" sz="1600" b="1" dirty="0">
                <a:solidFill>
                  <a:srgbClr val="3C1053"/>
                </a:solidFill>
              </a:rPr>
              <a:t>Причина назначения и ближайшая альтернатива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809136" y="4632920"/>
            <a:ext cx="5460470" cy="600112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3C1053"/>
                </a:solidFill>
              </a:defRPr>
            </a:pPr>
            <a:r>
              <a:rPr lang="ru-RU" sz="1600" b="1" dirty="0">
                <a:solidFill>
                  <a:srgbClr val="3C1053"/>
                </a:solidFill>
              </a:rPr>
              <a:t>Не распределено с понятными причинами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6826217" y="5604564"/>
            <a:ext cx="5460470" cy="365124"/>
          </a:xfrm>
          <a:prstGeom prst="rect">
            <a:avLst/>
          </a:prstGeom>
          <a:noFill/>
          <a:ln>
            <a:noFill/>
          </a:ln>
        </p:spPr>
        <p:txBody>
          <a:bodyPr>
            <a:normAutofit/>
          </a:bodyPr>
          <a:lstStyle/>
          <a:p>
            <a:pPr>
              <a:defRPr sz="1350" b="1">
                <a:solidFill>
                  <a:srgbClr val="3C1053"/>
                </a:solidFill>
              </a:defRPr>
            </a:pPr>
            <a:r>
              <a:rPr lang="ru-RU" sz="1600" b="1" dirty="0">
                <a:solidFill>
                  <a:srgbClr val="3C1053"/>
                </a:solidFill>
              </a:rPr>
              <a:t>Стресс сценарий до события и после</a:t>
            </a:r>
            <a:endParaRPr lang="ru-RU" sz="1600" dirty="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BA58DA2A-B818-18A9-29C1-B697728D5BCE}" type="slidenum">
              <a:rPr>
                <a:solidFill>
                  <a:schemeClr val="accent5"/>
                </a:solidFill>
              </a:rPr>
              <a:t>15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>
            <a:normAutofit/>
          </a:bodyPr>
          <a:lstStyle/>
          <a:p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ЧТО ПОЛУЧАЕТ ДИСПЕТЧЕР</a:t>
            </a:r>
            <a:endParaRPr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B127A7A-C70D-4ABB-B3CF-347E042579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596" y="2382731"/>
            <a:ext cx="812768" cy="812768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6E7CFF8A-2307-4741-9CD2-76DE3FB7F4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596" y="3390056"/>
            <a:ext cx="812768" cy="81276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8703907F-37F2-4F57-BE22-356FE9A864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596" y="1375320"/>
            <a:ext cx="812768" cy="812768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BD7812CA-0BCC-4746-B2FD-C560746E8A7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596" y="4401882"/>
            <a:ext cx="812768" cy="812768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2984B6EB-5D26-418C-AB1F-3F10C87DE76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2596" y="5407829"/>
            <a:ext cx="812768" cy="812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8951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Скругленный прямоугольник 1">
            <a:extLst>
              <a:ext uri="{FF2B5EF4-FFF2-40B4-BE49-F238E27FC236}">
                <a16:creationId xmlns:a16="http://schemas.microsoft.com/office/drawing/2014/main" id="{E9576336-EAF2-4374-BDB3-D3CEF6DF57E2}"/>
              </a:ext>
            </a:extLst>
          </p:cNvPr>
          <p:cNvSpPr>
            <a:spLocks noGrp="1"/>
          </p:cNvSpPr>
          <p:nvPr/>
        </p:nvSpPr>
        <p:spPr>
          <a:xfrm>
            <a:off x="498897" y="915656"/>
            <a:ext cx="3740594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t"/>
          <a:lstStyle/>
          <a:p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16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708" y="326105"/>
            <a:ext cx="4781233" cy="415925"/>
          </a:xfrm>
        </p:spPr>
        <p:txBody>
          <a:bodyPr/>
          <a:lstStyle/>
          <a:p>
            <a:r>
              <a:rPr lang="ru-RU" sz="2000" dirty="0">
                <a:solidFill>
                  <a:schemeClr val="bg1"/>
                </a:solidFill>
              </a:rPr>
              <a:t>Метрики решения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9197A5C-C935-41FD-878B-41781DDC5FD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4" t="35079" r="6385"/>
          <a:stretch/>
        </p:blipFill>
        <p:spPr>
          <a:xfrm>
            <a:off x="498897" y="1724890"/>
            <a:ext cx="10972799" cy="4443153"/>
          </a:xfrm>
          <a:prstGeom prst="rect">
            <a:avLst/>
          </a:prstGeom>
        </p:spPr>
      </p:pic>
      <p:sp>
        <p:nvSpPr>
          <p:cNvPr id="8" name="Заголовок 2">
            <a:extLst>
              <a:ext uri="{FF2B5EF4-FFF2-40B4-BE49-F238E27FC236}">
                <a16:creationId xmlns:a16="http://schemas.microsoft.com/office/drawing/2014/main" id="{A4DB029C-8F57-41AD-9C06-22B51E8EE6DF}"/>
              </a:ext>
            </a:extLst>
          </p:cNvPr>
          <p:cNvSpPr txBox="1">
            <a:spLocks/>
          </p:cNvSpPr>
          <p:nvPr/>
        </p:nvSpPr>
        <p:spPr>
          <a:xfrm>
            <a:off x="498896" y="1018152"/>
            <a:ext cx="4781233" cy="415925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 algn="l" defTabSz="57875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97" b="1" kern="1200">
                <a:solidFill>
                  <a:schemeClr val="bg1">
                    <a:lumMod val="95000"/>
                  </a:schemeClr>
                </a:solidFill>
                <a:latin typeface="+mj-lt"/>
                <a:ea typeface="+mj-ea"/>
                <a:cs typeface="Amatic SC" panose="00000500000000000000" pitchFamily="2" charset="-79"/>
              </a:defRPr>
            </a:lvl1pPr>
          </a:lstStyle>
          <a:p>
            <a:r>
              <a:rPr lang="ru-RU" sz="1200" b="0" dirty="0">
                <a:solidFill>
                  <a:schemeClr val="bg1"/>
                </a:solidFill>
              </a:rPr>
              <a:t>Показывают качество плана и последствия перепланирования</a:t>
            </a:r>
          </a:p>
        </p:txBody>
      </p:sp>
    </p:spTree>
    <p:extLst>
      <p:ext uri="{BB962C8B-B14F-4D97-AF65-F5344CB8AC3E}">
        <p14:creationId xmlns:p14="http://schemas.microsoft.com/office/powerpoint/2010/main" val="3413608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Скругленный прямоугольник 11">
            <a:extLst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/>
          <p:nvPr/>
        </p:nvSpPr>
        <p:spPr>
          <a:xfrm>
            <a:off x="346075" y="324562"/>
            <a:ext cx="5298608" cy="62091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5" name="Заголовок 13">
            <a:extLst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9862734" cy="376138"/>
          </a:xfrm>
        </p:spPr>
        <p:txBody>
          <a:bodyPr/>
          <a:lstStyle/>
          <a:p>
            <a:r>
              <a:rPr lang="ru-RU" sz="2000" b="1" dirty="0">
                <a:solidFill>
                  <a:srgbClr val="FFFFFF"/>
                </a:solidFill>
              </a:rPr>
              <a:t>ПУТЬ К ПРОМЫШЛЕННОЙ ВЕРСИИ</a:t>
            </a:r>
            <a:endParaRPr lang="ru-RU" sz="2000" dirty="0"/>
          </a:p>
        </p:txBody>
      </p:sp>
      <p:sp>
        <p:nvSpPr>
          <p:cNvPr id="46" name="Номер слайда 12">
            <a:extLst>
              <a:ext uri="{FF2B5EF4-FFF2-40B4-BE49-F238E27FC236}">
                <a16:creationId xmlns:a16="http://schemas.microsoft.com/office/drawing/2014/main" id="{D1499180-108F-4430-8F39-D382D7A73712}"/>
              </a:ext>
            </a:extLst>
          </p:cNvPr>
          <p:cNvSpPr txBox="1">
            <a:spLocks/>
          </p:cNvSpPr>
          <p:nvPr/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220" rtl="0" eaLnBrk="1" latinLnBrk="0" hangingPunct="1">
              <a:defRPr sz="12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11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220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32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43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549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2658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199765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6877" algn="l" defTabSz="91422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B7BEEEC-A170-5376-2B6E-CB54687B0CB1}" type="slidenum">
              <a:rPr lang="ru-RU" smtClean="0">
                <a:solidFill>
                  <a:schemeClr val="accent5"/>
                </a:solidFill>
              </a:rPr>
              <a:pPr/>
              <a:t>17</a:t>
            </a:fld>
            <a:endParaRPr lang="ru-RU">
              <a:solidFill>
                <a:schemeClr val="accent5"/>
              </a:solidFill>
            </a:endParaRPr>
          </a:p>
        </p:txBody>
      </p:sp>
      <p:sp>
        <p:nvSpPr>
          <p:cNvPr id="47" name="Текст 1">
            <a:extLst>
              <a:ext uri="{FF2B5EF4-FFF2-40B4-BE49-F238E27FC236}">
                <a16:creationId xmlns:a16="http://schemas.microsoft.com/office/drawing/2014/main" id="{74D9F0A1-F112-4E1D-A6D4-DCDF3FE54173}"/>
              </a:ext>
            </a:extLst>
          </p:cNvPr>
          <p:cNvSpPr>
            <a:spLocks noGrp="1"/>
          </p:cNvSpPr>
          <p:nvPr>
            <p:ph type="body" idx="26"/>
          </p:nvPr>
        </p:nvSpPr>
        <p:spPr>
          <a:xfrm>
            <a:off x="346075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defRPr sz="1275" b="1">
                <a:solidFill>
                  <a:srgbClr val="FF0060"/>
                </a:solidFill>
              </a:defRPr>
            </a:pPr>
            <a:r>
              <a:rPr sz="1275" b="1">
                <a:solidFill>
                  <a:srgbClr val="FF0060"/>
                </a:solidFill>
              </a:rPr>
              <a:t>Исторические данные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48" name="Текст 2">
            <a:extLst>
              <a:ext uri="{FF2B5EF4-FFF2-40B4-BE49-F238E27FC236}">
                <a16:creationId xmlns:a16="http://schemas.microsoft.com/office/drawing/2014/main" id="{2DC6FD4A-4283-4903-9C9D-67B0A91F565A}"/>
              </a:ext>
            </a:extLst>
          </p:cNvPr>
          <p:cNvSpPr>
            <a:spLocks noGrp="1"/>
          </p:cNvSpPr>
          <p:nvPr>
            <p:ph type="body" idx="27"/>
          </p:nvPr>
        </p:nvSpPr>
        <p:spPr>
          <a:xfrm>
            <a:off x="346075" y="1814077"/>
            <a:ext cx="2526079" cy="1120685"/>
          </a:xfrm>
        </p:spPr>
        <p:txBody>
          <a:bodyPr>
            <a:normAutofit/>
          </a:bodyPr>
          <a:lstStyle/>
          <a:p>
            <a:pPr>
              <a:defRPr sz="1125">
                <a:solidFill>
                  <a:srgbClr val="3C1053"/>
                </a:solidFill>
              </a:defRPr>
            </a:pPr>
            <a:r>
              <a:rPr lang="ru-RU" sz="1200" dirty="0">
                <a:solidFill>
                  <a:srgbClr val="3C1053"/>
                </a:solidFill>
              </a:rPr>
              <a:t>Проверить KPI на реальных сменах и определить целевые метрики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49" name="Текст 3">
            <a:extLst>
              <a:ext uri="{FF2B5EF4-FFF2-40B4-BE49-F238E27FC236}">
                <a16:creationId xmlns:a16="http://schemas.microsoft.com/office/drawing/2014/main" id="{6976314A-69FE-4645-9229-2C9AB0E2677C}"/>
              </a:ext>
            </a:extLst>
          </p:cNvPr>
          <p:cNvSpPr>
            <a:spLocks noGrp="1"/>
          </p:cNvSpPr>
          <p:nvPr>
            <p:ph type="body" idx="28"/>
          </p:nvPr>
        </p:nvSpPr>
        <p:spPr>
          <a:xfrm>
            <a:off x="4832960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defRPr sz="1275" b="1">
                <a:solidFill>
                  <a:srgbClr val="FF0060"/>
                </a:solidFill>
              </a:defRPr>
            </a:pPr>
            <a:r>
              <a:rPr sz="1275" b="1">
                <a:solidFill>
                  <a:srgbClr val="FF0060"/>
                </a:solidFill>
              </a:rPr>
              <a:t>Адресная точность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50" name="Текст 4">
            <a:extLst>
              <a:ext uri="{FF2B5EF4-FFF2-40B4-BE49-F238E27FC236}">
                <a16:creationId xmlns:a16="http://schemas.microsoft.com/office/drawing/2014/main" id="{AB76D148-7A7F-422D-8EA2-66E1F629ABFB}"/>
              </a:ext>
            </a:extLst>
          </p:cNvPr>
          <p:cNvSpPr>
            <a:spLocks noGrp="1"/>
          </p:cNvSpPr>
          <p:nvPr>
            <p:ph type="body" idx="29"/>
          </p:nvPr>
        </p:nvSpPr>
        <p:spPr>
          <a:xfrm>
            <a:off x="4832960" y="1814077"/>
            <a:ext cx="2526079" cy="1120685"/>
          </a:xfrm>
        </p:spPr>
        <p:txBody>
          <a:bodyPr>
            <a:normAutofit/>
          </a:bodyPr>
          <a:lstStyle/>
          <a:p>
            <a:pPr>
              <a:defRPr sz="1125">
                <a:solidFill>
                  <a:srgbClr val="3C1053"/>
                </a:solidFill>
              </a:defRPr>
            </a:pPr>
            <a:r>
              <a:rPr lang="ru-RU" sz="1200" dirty="0">
                <a:solidFill>
                  <a:srgbClr val="3C1053"/>
                </a:solidFill>
              </a:rPr>
              <a:t>Подключить </a:t>
            </a:r>
            <a:r>
              <a:rPr lang="ru-RU" sz="1200" dirty="0" err="1">
                <a:solidFill>
                  <a:srgbClr val="3C1053"/>
                </a:solidFill>
              </a:rPr>
              <a:t>геокодирование</a:t>
            </a:r>
            <a:r>
              <a:rPr lang="ru-RU" sz="1200" dirty="0">
                <a:solidFill>
                  <a:srgbClr val="3C1053"/>
                </a:solidFill>
              </a:rPr>
              <a:t>, реальные стартовые точки и корпоративные справочники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1" name="Текст 5">
            <a:extLst>
              <a:ext uri="{FF2B5EF4-FFF2-40B4-BE49-F238E27FC236}">
                <a16:creationId xmlns:a16="http://schemas.microsoft.com/office/drawing/2014/main" id="{5DA7F546-B81B-4ABF-8300-CF507910CD07}"/>
              </a:ext>
            </a:extLst>
          </p:cNvPr>
          <p:cNvSpPr>
            <a:spLocks noGrp="1"/>
          </p:cNvSpPr>
          <p:nvPr>
            <p:ph type="body" idx="30"/>
          </p:nvPr>
        </p:nvSpPr>
        <p:spPr>
          <a:xfrm>
            <a:off x="9330862" y="1458075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defRPr sz="1275" b="1">
                <a:solidFill>
                  <a:srgbClr val="FF0060"/>
                </a:solidFill>
              </a:defRPr>
            </a:pPr>
            <a:r>
              <a:rPr sz="1275" b="1">
                <a:solidFill>
                  <a:srgbClr val="FF0060"/>
                </a:solidFill>
              </a:rPr>
              <a:t>Серверный контур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52" name="Текст 6">
            <a:extLst>
              <a:ext uri="{FF2B5EF4-FFF2-40B4-BE49-F238E27FC236}">
                <a16:creationId xmlns:a16="http://schemas.microsoft.com/office/drawing/2014/main" id="{943B2427-FC97-427C-8F52-F8EF85AC1BEE}"/>
              </a:ext>
            </a:extLst>
          </p:cNvPr>
          <p:cNvSpPr>
            <a:spLocks noGrp="1"/>
          </p:cNvSpPr>
          <p:nvPr>
            <p:ph type="body" idx="31"/>
          </p:nvPr>
        </p:nvSpPr>
        <p:spPr>
          <a:xfrm>
            <a:off x="9330862" y="1814077"/>
            <a:ext cx="2526079" cy="1120685"/>
          </a:xfrm>
        </p:spPr>
        <p:txBody>
          <a:bodyPr>
            <a:normAutofit/>
          </a:bodyPr>
          <a:lstStyle/>
          <a:p>
            <a:pPr>
              <a:defRPr sz="1125">
                <a:solidFill>
                  <a:srgbClr val="3C1053"/>
                </a:solidFill>
              </a:defRPr>
            </a:pPr>
            <a:r>
              <a:rPr lang="ru-RU" sz="1200" dirty="0">
                <a:solidFill>
                  <a:srgbClr val="3C1053"/>
                </a:solidFill>
              </a:rPr>
              <a:t>Добавить авторизацию, хранение событий, аудит и интеграции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5" name="Текст 7">
            <a:extLst>
              <a:ext uri="{FF2B5EF4-FFF2-40B4-BE49-F238E27FC236}">
                <a16:creationId xmlns:a16="http://schemas.microsoft.com/office/drawing/2014/main" id="{B02B37F3-375C-495B-8E8C-3EE678047214}"/>
              </a:ext>
            </a:extLst>
          </p:cNvPr>
          <p:cNvSpPr>
            <a:spLocks noGrp="1"/>
          </p:cNvSpPr>
          <p:nvPr>
            <p:ph type="body" idx="32"/>
          </p:nvPr>
        </p:nvSpPr>
        <p:spPr>
          <a:xfrm>
            <a:off x="2593517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defRPr sz="1275" b="1">
                <a:solidFill>
                  <a:srgbClr val="FF0060"/>
                </a:solidFill>
              </a:defRPr>
            </a:pPr>
            <a:r>
              <a:rPr sz="1275" b="1">
                <a:solidFill>
                  <a:srgbClr val="FF0060"/>
                </a:solidFill>
              </a:rPr>
              <a:t>Усиление алгоритма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56" name="Текст 8">
            <a:extLst>
              <a:ext uri="{FF2B5EF4-FFF2-40B4-BE49-F238E27FC236}">
                <a16:creationId xmlns:a16="http://schemas.microsoft.com/office/drawing/2014/main" id="{81A71D6D-FC48-40E1-BCC3-EF109792DADB}"/>
              </a:ext>
            </a:extLst>
          </p:cNvPr>
          <p:cNvSpPr>
            <a:spLocks noGrp="1"/>
          </p:cNvSpPr>
          <p:nvPr>
            <p:ph type="body" idx="33"/>
          </p:nvPr>
        </p:nvSpPr>
        <p:spPr>
          <a:xfrm>
            <a:off x="2593517" y="5181340"/>
            <a:ext cx="2526079" cy="1120685"/>
          </a:xfrm>
        </p:spPr>
        <p:txBody>
          <a:bodyPr>
            <a:normAutofit/>
          </a:bodyPr>
          <a:lstStyle/>
          <a:p>
            <a:pPr>
              <a:defRPr sz="1125">
                <a:solidFill>
                  <a:srgbClr val="3C1053"/>
                </a:solidFill>
              </a:defRPr>
            </a:pPr>
            <a:r>
              <a:rPr lang="ru-RU" sz="1200" dirty="0">
                <a:solidFill>
                  <a:srgbClr val="3C1053"/>
                </a:solidFill>
              </a:rPr>
              <a:t>Проверять все позиции вставки, глубже оптимизировать маршрут и пересчитывать KPI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7" name="Текст 9">
            <a:extLst>
              <a:ext uri="{FF2B5EF4-FFF2-40B4-BE49-F238E27FC236}">
                <a16:creationId xmlns:a16="http://schemas.microsoft.com/office/drawing/2014/main" id="{3840236B-A502-4A51-8345-44C44F98E3DA}"/>
              </a:ext>
            </a:extLst>
          </p:cNvPr>
          <p:cNvSpPr>
            <a:spLocks noGrp="1"/>
          </p:cNvSpPr>
          <p:nvPr>
            <p:ph type="body" idx="34"/>
          </p:nvPr>
        </p:nvSpPr>
        <p:spPr>
          <a:xfrm>
            <a:off x="7080402" y="4825338"/>
            <a:ext cx="2526079" cy="1476687"/>
          </a:xfrm>
          <a:prstGeom prst="roundRect">
            <a:avLst>
              <a:gd name="adj" fmla="val 0"/>
            </a:avLst>
          </a:prstGeom>
          <a:noFill/>
        </p:spPr>
        <p:txBody>
          <a:bodyPr>
            <a:normAutofit/>
          </a:bodyPr>
          <a:lstStyle/>
          <a:p>
            <a:pPr>
              <a:defRPr sz="1275" b="1">
                <a:solidFill>
                  <a:srgbClr val="FF0060"/>
                </a:solidFill>
              </a:defRPr>
            </a:pPr>
            <a:r>
              <a:rPr sz="1275" b="1">
                <a:solidFill>
                  <a:srgbClr val="FF0060"/>
                </a:solidFill>
              </a:rPr>
              <a:t>Пилот</a:t>
            </a:r>
            <a:endParaRPr b="0">
              <a:solidFill>
                <a:schemeClr val="accent5"/>
              </a:solidFill>
            </a:endParaRPr>
          </a:p>
        </p:txBody>
      </p:sp>
      <p:sp>
        <p:nvSpPr>
          <p:cNvPr id="58" name="Текст 10">
            <a:extLst>
              <a:ext uri="{FF2B5EF4-FFF2-40B4-BE49-F238E27FC236}">
                <a16:creationId xmlns:a16="http://schemas.microsoft.com/office/drawing/2014/main" id="{24F1DDC7-958A-4B4D-AECF-1BD28C3BB923}"/>
              </a:ext>
            </a:extLst>
          </p:cNvPr>
          <p:cNvSpPr>
            <a:spLocks noGrp="1"/>
          </p:cNvSpPr>
          <p:nvPr>
            <p:ph type="body" idx="35"/>
          </p:nvPr>
        </p:nvSpPr>
        <p:spPr>
          <a:xfrm>
            <a:off x="7080402" y="5181340"/>
            <a:ext cx="2526079" cy="1120685"/>
          </a:xfrm>
        </p:spPr>
        <p:txBody>
          <a:bodyPr>
            <a:normAutofit/>
          </a:bodyPr>
          <a:lstStyle/>
          <a:p>
            <a:pPr>
              <a:defRPr sz="1125">
                <a:solidFill>
                  <a:srgbClr val="3C1053"/>
                </a:solidFill>
              </a:defRPr>
            </a:pPr>
            <a:r>
              <a:rPr lang="ru-RU" sz="1200" dirty="0">
                <a:solidFill>
                  <a:srgbClr val="3C1053"/>
                </a:solidFill>
              </a:rPr>
              <a:t>Запустить пилот, собрать обратную связь и масштабировать решение</a:t>
            </a:r>
            <a:endParaRPr lang="ru-RU" sz="1200" dirty="0">
              <a:solidFill>
                <a:schemeClr val="tx1"/>
              </a:solidFill>
            </a:endParaRPr>
          </a:p>
        </p:txBody>
      </p:sp>
      <p:sp>
        <p:nvSpPr>
          <p:cNvPr id="59" name="Прямая соединительная линия 58">
            <a:extLst>
              <a:ext uri="{FF2B5EF4-FFF2-40B4-BE49-F238E27FC236}">
                <a16:creationId xmlns:a16="http://schemas.microsoft.com/office/drawing/2014/main" id="{CE80AF55-D11A-4D03-9CA7-5C21FDEABD9C}"/>
              </a:ext>
            </a:extLst>
          </p:cNvPr>
          <p:cNvSpPr>
            <a:spLocks noGrp="1"/>
          </p:cNvSpPr>
          <p:nvPr/>
        </p:nvSpPr>
        <p:spPr>
          <a:xfrm>
            <a:off x="2065940" y="3860224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0" name="Прямая соединительная линия 59">
            <a:extLst>
              <a:ext uri="{FF2B5EF4-FFF2-40B4-BE49-F238E27FC236}">
                <a16:creationId xmlns:a16="http://schemas.microsoft.com/office/drawing/2014/main" id="{5DAFFC50-5B9E-4065-999A-9DAC9F388344}"/>
              </a:ext>
            </a:extLst>
          </p:cNvPr>
          <p:cNvSpPr>
            <a:spLocks noGrp="1"/>
          </p:cNvSpPr>
          <p:nvPr/>
        </p:nvSpPr>
        <p:spPr>
          <a:xfrm>
            <a:off x="4312137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1" name="Прямая соединительная линия 60">
            <a:extLst>
              <a:ext uri="{FF2B5EF4-FFF2-40B4-BE49-F238E27FC236}">
                <a16:creationId xmlns:a16="http://schemas.microsoft.com/office/drawing/2014/main" id="{B20B78CE-E5F3-4C86-9393-6775F7BA662E}"/>
              </a:ext>
            </a:extLst>
          </p:cNvPr>
          <p:cNvSpPr>
            <a:spLocks noGrp="1"/>
          </p:cNvSpPr>
          <p:nvPr/>
        </p:nvSpPr>
        <p:spPr>
          <a:xfrm>
            <a:off x="6558334" y="3862139"/>
            <a:ext cx="1332546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2" name="Прямая соединительная линия 61">
            <a:extLst>
              <a:ext uri="{FF2B5EF4-FFF2-40B4-BE49-F238E27FC236}">
                <a16:creationId xmlns:a16="http://schemas.microsoft.com/office/drawing/2014/main" id="{AEE7BC5B-DA4D-47E6-AD37-5D9D4AC5FB35}"/>
              </a:ext>
            </a:extLst>
          </p:cNvPr>
          <p:cNvSpPr>
            <a:spLocks noGrp="1"/>
          </p:cNvSpPr>
          <p:nvPr/>
        </p:nvSpPr>
        <p:spPr>
          <a:xfrm>
            <a:off x="8780467" y="3862139"/>
            <a:ext cx="1332545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3" name="Прямая соединительная линия 62">
            <a:extLst>
              <a:ext uri="{FF2B5EF4-FFF2-40B4-BE49-F238E27FC236}">
                <a16:creationId xmlns:a16="http://schemas.microsoft.com/office/drawing/2014/main" id="{3227BED0-24EA-40C0-BC07-B8417CF17199}"/>
              </a:ext>
            </a:extLst>
          </p:cNvPr>
          <p:cNvSpPr>
            <a:spLocks noGrp="1"/>
          </p:cNvSpPr>
          <p:nvPr/>
        </p:nvSpPr>
        <p:spPr>
          <a:xfrm>
            <a:off x="1609114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4" name="Прямая соединительная линия 63">
            <a:extLst>
              <a:ext uri="{FF2B5EF4-FFF2-40B4-BE49-F238E27FC236}">
                <a16:creationId xmlns:a16="http://schemas.microsoft.com/office/drawing/2014/main" id="{7B642C8E-EC51-482B-9AD9-6297E4180C0D}"/>
              </a:ext>
            </a:extLst>
          </p:cNvPr>
          <p:cNvSpPr>
            <a:spLocks noGrp="1"/>
          </p:cNvSpPr>
          <p:nvPr/>
        </p:nvSpPr>
        <p:spPr>
          <a:xfrm>
            <a:off x="3855312" y="4216228"/>
            <a:ext cx="1245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5" name="Прямая соединительная линия 64">
            <a:extLst>
              <a:ext uri="{FF2B5EF4-FFF2-40B4-BE49-F238E27FC236}">
                <a16:creationId xmlns:a16="http://schemas.microsoft.com/office/drawing/2014/main" id="{B6E9C536-EAC7-4847-9095-28616DB34889}"/>
              </a:ext>
            </a:extLst>
          </p:cNvPr>
          <p:cNvSpPr>
            <a:spLocks noGrp="1"/>
          </p:cNvSpPr>
          <p:nvPr/>
        </p:nvSpPr>
        <p:spPr>
          <a:xfrm>
            <a:off x="6096000" y="2934762"/>
            <a:ext cx="5509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6" name="Прямая соединительная линия 65">
            <a:extLst>
              <a:ext uri="{FF2B5EF4-FFF2-40B4-BE49-F238E27FC236}">
                <a16:creationId xmlns:a16="http://schemas.microsoft.com/office/drawing/2014/main" id="{194F7093-95D7-49B9-BD3D-DF93EC4D04BA}"/>
              </a:ext>
            </a:extLst>
          </p:cNvPr>
          <p:cNvSpPr>
            <a:spLocks noGrp="1"/>
          </p:cNvSpPr>
          <p:nvPr/>
        </p:nvSpPr>
        <p:spPr>
          <a:xfrm flipH="1">
            <a:off x="8343442" y="4216228"/>
            <a:ext cx="4264" cy="575062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7" name="Прямая соединительная линия 66">
            <a:extLst>
              <a:ext uri="{FF2B5EF4-FFF2-40B4-BE49-F238E27FC236}">
                <a16:creationId xmlns:a16="http://schemas.microsoft.com/office/drawing/2014/main" id="{B839E5EA-4BE0-45A8-9436-7372BAF2F0AB}"/>
              </a:ext>
            </a:extLst>
          </p:cNvPr>
          <p:cNvSpPr>
            <a:spLocks noGrp="1"/>
          </p:cNvSpPr>
          <p:nvPr/>
        </p:nvSpPr>
        <p:spPr>
          <a:xfrm>
            <a:off x="10593901" y="2934762"/>
            <a:ext cx="1" cy="573287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sp>
      <p:sp>
        <p:nvSpPr>
          <p:cNvPr id="68" name="Скругленный прямоугольник 42">
            <a:extLst>
              <a:ext uri="{FF2B5EF4-FFF2-40B4-BE49-F238E27FC236}">
                <a16:creationId xmlns:a16="http://schemas.microsoft.com/office/drawing/2014/main" id="{E6ABEE35-BD74-4EF8-9230-74E3A3B24A6A}"/>
              </a:ext>
            </a:extLst>
          </p:cNvPr>
          <p:cNvSpPr>
            <a:spLocks noGrp="1"/>
          </p:cNvSpPr>
          <p:nvPr/>
        </p:nvSpPr>
        <p:spPr>
          <a:xfrm>
            <a:off x="1191126" y="3508049"/>
            <a:ext cx="874814" cy="708179"/>
          </a:xfrm>
          <a:prstGeom prst="roundRect">
            <a:avLst/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1</a:t>
            </a:r>
          </a:p>
        </p:txBody>
      </p:sp>
      <p:sp>
        <p:nvSpPr>
          <p:cNvPr id="69" name="Скругленный прямоугольник 43">
            <a:extLst>
              <a:ext uri="{FF2B5EF4-FFF2-40B4-BE49-F238E27FC236}">
                <a16:creationId xmlns:a16="http://schemas.microsoft.com/office/drawing/2014/main" id="{045C0753-E43B-42D6-976C-96568D789627}"/>
              </a:ext>
            </a:extLst>
          </p:cNvPr>
          <p:cNvSpPr>
            <a:spLocks noGrp="1"/>
          </p:cNvSpPr>
          <p:nvPr/>
        </p:nvSpPr>
        <p:spPr>
          <a:xfrm>
            <a:off x="3412397" y="3506136"/>
            <a:ext cx="874814" cy="708179"/>
          </a:xfrm>
          <a:prstGeom prst="roundRect">
            <a:avLst/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2</a:t>
            </a:r>
          </a:p>
        </p:txBody>
      </p:sp>
      <p:sp>
        <p:nvSpPr>
          <p:cNvPr id="70" name="Скругленный прямоугольник 44">
            <a:extLst>
              <a:ext uri="{FF2B5EF4-FFF2-40B4-BE49-F238E27FC236}">
                <a16:creationId xmlns:a16="http://schemas.microsoft.com/office/drawing/2014/main" id="{62CD6752-972F-4B16-887D-0E7C6E6E54B3}"/>
              </a:ext>
            </a:extLst>
          </p:cNvPr>
          <p:cNvSpPr>
            <a:spLocks noGrp="1"/>
          </p:cNvSpPr>
          <p:nvPr/>
        </p:nvSpPr>
        <p:spPr>
          <a:xfrm>
            <a:off x="5658594" y="3516255"/>
            <a:ext cx="874814" cy="708179"/>
          </a:xfrm>
          <a:prstGeom prst="roundRect">
            <a:avLst/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3</a:t>
            </a:r>
          </a:p>
        </p:txBody>
      </p:sp>
      <p:sp>
        <p:nvSpPr>
          <p:cNvPr id="71" name="Скругленный прямоугольник 52">
            <a:extLst>
              <a:ext uri="{FF2B5EF4-FFF2-40B4-BE49-F238E27FC236}">
                <a16:creationId xmlns:a16="http://schemas.microsoft.com/office/drawing/2014/main" id="{54A89FEF-D5E4-4D8A-89FB-F88073CFDD6E}"/>
              </a:ext>
            </a:extLst>
          </p:cNvPr>
          <p:cNvSpPr>
            <a:spLocks noGrp="1"/>
          </p:cNvSpPr>
          <p:nvPr/>
        </p:nvSpPr>
        <p:spPr>
          <a:xfrm>
            <a:off x="7889752" y="3506135"/>
            <a:ext cx="874814" cy="708179"/>
          </a:xfrm>
          <a:prstGeom prst="roundRect">
            <a:avLst/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4</a:t>
            </a:r>
          </a:p>
        </p:txBody>
      </p:sp>
      <p:sp>
        <p:nvSpPr>
          <p:cNvPr id="72" name="Скругленный прямоугольник 53">
            <a:extLst>
              <a:ext uri="{FF2B5EF4-FFF2-40B4-BE49-F238E27FC236}">
                <a16:creationId xmlns:a16="http://schemas.microsoft.com/office/drawing/2014/main" id="{F786AFD4-2571-455F-91B1-D39AA3C4EA76}"/>
              </a:ext>
            </a:extLst>
          </p:cNvPr>
          <p:cNvSpPr>
            <a:spLocks noGrp="1"/>
          </p:cNvSpPr>
          <p:nvPr/>
        </p:nvSpPr>
        <p:spPr>
          <a:xfrm>
            <a:off x="10113012" y="3538626"/>
            <a:ext cx="874814" cy="708179"/>
          </a:xfrm>
          <a:prstGeom prst="roundRect">
            <a:avLst/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r>
              <a:rPr sz="2400" b="1"/>
              <a:t>5</a:t>
            </a:r>
          </a:p>
        </p:txBody>
      </p:sp>
      <p:sp>
        <p:nvSpPr>
          <p:cNvPr id="73" name="Скругленный прямоугольник 13">
            <a:extLst>
              <a:ext uri="{FF2B5EF4-FFF2-40B4-BE49-F238E27FC236}">
                <a16:creationId xmlns:a16="http://schemas.microsoft.com/office/drawing/2014/main" id="{80552DCF-F67F-44E4-A0AA-2507E39A7C25}"/>
              </a:ext>
            </a:extLst>
          </p:cNvPr>
          <p:cNvSpPr>
            <a:spLocks noGrp="1"/>
          </p:cNvSpPr>
          <p:nvPr/>
        </p:nvSpPr>
        <p:spPr>
          <a:xfrm>
            <a:off x="1864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 sz="2400" b="1"/>
          </a:p>
        </p:txBody>
      </p:sp>
      <p:sp>
        <p:nvSpPr>
          <p:cNvPr id="74" name="Скругленный прямоугольник 15">
            <a:extLst>
              <a:ext uri="{FF2B5EF4-FFF2-40B4-BE49-F238E27FC236}">
                <a16:creationId xmlns:a16="http://schemas.microsoft.com/office/drawing/2014/main" id="{78159DA6-7C42-4FB6-93C4-035DAE2468BC}"/>
              </a:ext>
            </a:extLst>
          </p:cNvPr>
          <p:cNvSpPr>
            <a:spLocks noGrp="1"/>
          </p:cNvSpPr>
          <p:nvPr/>
        </p:nvSpPr>
        <p:spPr>
          <a:xfrm>
            <a:off x="46441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 sz="2400" b="1"/>
          </a:p>
        </p:txBody>
      </p:sp>
      <p:sp>
        <p:nvSpPr>
          <p:cNvPr id="75" name="Скругленный прямоугольник 16">
            <a:extLst>
              <a:ext uri="{FF2B5EF4-FFF2-40B4-BE49-F238E27FC236}">
                <a16:creationId xmlns:a16="http://schemas.microsoft.com/office/drawing/2014/main" id="{E2527779-58F3-41EF-B66F-F42A8B770133}"/>
              </a:ext>
            </a:extLst>
          </p:cNvPr>
          <p:cNvSpPr>
            <a:spLocks noGrp="1"/>
          </p:cNvSpPr>
          <p:nvPr/>
        </p:nvSpPr>
        <p:spPr>
          <a:xfrm>
            <a:off x="9101880" y="1370651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 sz="2400" b="1"/>
          </a:p>
        </p:txBody>
      </p:sp>
      <p:sp>
        <p:nvSpPr>
          <p:cNvPr id="76" name="Скругленный прямоугольник 17">
            <a:extLst>
              <a:ext uri="{FF2B5EF4-FFF2-40B4-BE49-F238E27FC236}">
                <a16:creationId xmlns:a16="http://schemas.microsoft.com/office/drawing/2014/main" id="{57709876-08FA-4784-8539-19A73281EDDE}"/>
              </a:ext>
            </a:extLst>
          </p:cNvPr>
          <p:cNvSpPr>
            <a:spLocks noGrp="1"/>
          </p:cNvSpPr>
          <p:nvPr/>
        </p:nvSpPr>
        <p:spPr>
          <a:xfrm>
            <a:off x="2471878" y="4825338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 sz="2400" b="1"/>
          </a:p>
        </p:txBody>
      </p:sp>
      <p:sp>
        <p:nvSpPr>
          <p:cNvPr id="77" name="Скругленный прямоугольник 18">
            <a:extLst>
              <a:ext uri="{FF2B5EF4-FFF2-40B4-BE49-F238E27FC236}">
                <a16:creationId xmlns:a16="http://schemas.microsoft.com/office/drawing/2014/main" id="{07D765DF-0DC5-4BAB-80AF-1A91EA91F2FA}"/>
              </a:ext>
            </a:extLst>
          </p:cNvPr>
          <p:cNvSpPr>
            <a:spLocks noGrp="1"/>
          </p:cNvSpPr>
          <p:nvPr/>
        </p:nvSpPr>
        <p:spPr>
          <a:xfrm>
            <a:off x="6948708" y="4791290"/>
            <a:ext cx="2836197" cy="1581312"/>
          </a:xfrm>
          <a:prstGeom prst="roundRect">
            <a:avLst>
              <a:gd name="adj" fmla="val 10884"/>
            </a:avLst>
          </a:prstGeom>
          <a:noFill/>
          <a:ln w="12700" cmpd="sng">
            <a:solidFill>
              <a:schemeClr val="accent1"/>
            </a:solidFill>
            <a:prstDash val="solid"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anchor="ctr"/>
          <a:lstStyle/>
          <a:p>
            <a:pPr algn="ctr">
              <a:buNone/>
            </a:pPr>
            <a:endParaRPr sz="2400" b="1"/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11346</TotalTime>
  <Words>1182</Words>
  <Application>Microsoft Office PowerPoint</Application>
  <PresentationFormat>Широкоэкранный</PresentationFormat>
  <Paragraphs>184</Paragraphs>
  <Slides>17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Arial</vt:lpstr>
      <vt:lpstr>Calibri</vt:lpstr>
      <vt:lpstr>Montserrat</vt:lpstr>
      <vt:lpstr>Wingdings</vt:lpstr>
      <vt:lpstr>Для Академия инноваторов 16_9</vt:lpstr>
      <vt:lpstr>УРАЛЬСКИЕ САМОЦВЕТЫ</vt:lpstr>
      <vt:lpstr>УРАЛЬСКИЕ САМОЦВЕТЫ</vt:lpstr>
      <vt:lpstr>УРАЛЬСКИЕ САМОЦВЕТЫ</vt:lpstr>
      <vt:lpstr>УРАЛЬСКИЕ САМОЦВЕТЫ</vt:lpstr>
      <vt:lpstr>КОРОТКО О РЕШЕНИИ</vt:lpstr>
      <vt:lpstr>Бизнесовая составляющая MVP</vt:lpstr>
      <vt:lpstr>Техническая проработка</vt:lpstr>
      <vt:lpstr>МЕТОДЫ, КОТОРЫЕ ИСПОЛЬЗУЕМ В MVP</vt:lpstr>
      <vt:lpstr>ПОЧЕМУ ВЫБРАНЫ ИМЕННО ЭТИ МЕТОДЫ</vt:lpstr>
      <vt:lpstr>Что дают применяемые методы</vt:lpstr>
      <vt:lpstr>Применяемые алгоритмы</vt:lpstr>
      <vt:lpstr>Алгоритмы</vt:lpstr>
      <vt:lpstr>Алгоритмы</vt:lpstr>
      <vt:lpstr>ПОЛЬЗА MVP ДЛЯ КАЖДОЙ РОЛИ</vt:lpstr>
      <vt:lpstr>ЧТО ПОЛУЧАЕТ ДИСПЕТЧЕР</vt:lpstr>
      <vt:lpstr>Метрики решения</vt:lpstr>
      <vt:lpstr>ПУТЬ К ПРОМЫШЛЕННОЙ ВЕРСИИ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Савина Юлия Александровна</cp:lastModifiedBy>
  <cp:revision>124</cp:revision>
  <dcterms:created xsi:type="dcterms:W3CDTF">2023-05-15T07:36:23Z</dcterms:created>
  <dcterms:modified xsi:type="dcterms:W3CDTF">2026-09-29T11:32:09Z</dcterms:modified>
</cp:coreProperties>
</file>